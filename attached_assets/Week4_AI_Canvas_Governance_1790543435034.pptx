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60" r:id="rId5"/>
    <p:sldId id="271" r:id="rId6"/>
    <p:sldId id="261" r:id="rId7"/>
    <p:sldId id="259" r:id="rId8"/>
    <p:sldId id="281" r:id="rId9"/>
    <p:sldId id="279" r:id="rId10"/>
    <p:sldId id="277" r:id="rId11"/>
    <p:sldId id="280" r:id="rId12"/>
    <p:sldId id="278" r:id="rId13"/>
    <p:sldId id="264" r:id="rId14"/>
    <p:sldId id="265" r:id="rId15"/>
    <p:sldId id="272" r:id="rId16"/>
    <p:sldId id="273" r:id="rId17"/>
    <p:sldId id="274" r:id="rId18"/>
    <p:sldId id="275" r:id="rId19"/>
    <p:sldId id="276" r:id="rId20"/>
    <p:sldId id="269" r:id="rId21"/>
    <p:sldId id="270" r:id="rId2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9455F"/>
    <a:srgbClr val="44444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208"/>
    <p:restoredTop sz="94610"/>
  </p:normalViewPr>
  <p:slideViewPr>
    <p:cSldViewPr snapToGrid="0" snapToObjects="1">
      <p:cViewPr varScale="1">
        <p:scale>
          <a:sx n="209" d="100"/>
          <a:sy n="209" d="100"/>
        </p:scale>
        <p:origin x="74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537197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8A50E5-F47B-3F96-2412-ABAEE47984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18218B1-705E-99E9-011B-89DAE3AFBD6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701253A-2F4A-BA47-69FA-00CC089B0E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75A79E-D14E-9E86-D595-DC8E5181A00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706658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914400"/>
            <a:ext cx="82296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latin typeface="Georgia" pitchFamily="34" charset="0"/>
                <a:ea typeface="Georgia" pitchFamily="34" charset="-122"/>
                <a:cs typeface="Georgia" pitchFamily="34" charset="-120"/>
              </a:rPr>
              <a:t>AI Canvas</a:t>
            </a:r>
            <a:r>
              <a:rPr lang="en-US" sz="5200" dirty="0"/>
              <a:t> </a:t>
            </a:r>
            <a:r>
              <a:rPr lang="en-US" sz="5200" b="1" dirty="0">
                <a:latin typeface="Georgia" pitchFamily="34" charset="0"/>
                <a:ea typeface="Georgia" pitchFamily="34" charset="-122"/>
                <a:cs typeface="Georgia" pitchFamily="34" charset="-120"/>
              </a:rPr>
              <a:t>and Governance</a:t>
            </a:r>
            <a:endParaRPr lang="en-US" sz="5200" dirty="0"/>
          </a:p>
        </p:txBody>
      </p:sp>
      <p:sp>
        <p:nvSpPr>
          <p:cNvPr id="6" name="Shape 4"/>
          <p:cNvSpPr/>
          <p:nvPr/>
        </p:nvSpPr>
        <p:spPr>
          <a:xfrm>
            <a:off x="548640" y="4846320"/>
            <a:ext cx="8046720" cy="0"/>
          </a:xfrm>
          <a:prstGeom prst="line">
            <a:avLst/>
          </a:prstGeom>
          <a:noFill/>
          <a:ln w="6350">
            <a:solidFill>
              <a:srgbClr val="333333"/>
            </a:solidFill>
            <a:prstDash val="solid"/>
          </a:ln>
        </p:spPr>
      </p:sp>
      <p:sp>
        <p:nvSpPr>
          <p:cNvPr id="2" name="Text 3">
            <a:extLst>
              <a:ext uri="{FF2B5EF4-FFF2-40B4-BE49-F238E27FC236}">
                <a16:creationId xmlns:a16="http://schemas.microsoft.com/office/drawing/2014/main" id="{4F1202DA-9C40-A649-AC8E-6A3EA6A6A4DD}"/>
              </a:ext>
            </a:extLst>
          </p:cNvPr>
          <p:cNvSpPr/>
          <p:nvPr/>
        </p:nvSpPr>
        <p:spPr>
          <a:xfrm>
            <a:off x="457200" y="32918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 297D</a:t>
            </a:r>
          </a:p>
          <a:p>
            <a:pPr marL="0" indent="0" algn="ctr">
              <a:buNone/>
            </a:pPr>
            <a:r>
              <a:rPr lang="en-US" sz="2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10</a:t>
            </a:r>
            <a:r>
              <a:rPr lang="en-US" sz="2000" dirty="0">
                <a:solidFill>
                  <a:srgbClr val="666666"/>
                </a:solidFill>
                <a:latin typeface="Calibri" pitchFamily="34" charset="0"/>
                <a:cs typeface="Calibri" pitchFamily="34" charset="-120"/>
              </a:rPr>
              <a:t>, 2026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82880"/>
            <a:ext cx="8869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course arc — </a:t>
            </a:r>
            <a:r>
              <a:rPr lang="en-US" sz="2000" b="1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 AI roles, 1 consulting project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274320" y="1289304"/>
            <a:ext cx="1325880" cy="3108960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365760" y="1399032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1–2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65760" y="1947672"/>
            <a:ext cx="1143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Ethnographer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11480" y="2523744"/>
            <a:ext cx="105156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365760" y="2615184"/>
            <a:ext cx="1143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"What is actually broken?"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691640" y="1289304"/>
            <a:ext cx="1325880" cy="3108960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1783080" y="1399032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783080" y="1947672"/>
            <a:ext cx="1143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Explorer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1828800" y="2523744"/>
            <a:ext cx="105156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1783080" y="2615184"/>
            <a:ext cx="1143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"What can AI do?"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108960" y="1289304"/>
            <a:ext cx="1325880" cy="3108960"/>
          </a:xfrm>
          <a:prstGeom prst="rect">
            <a:avLst/>
          </a:prstGeom>
          <a:solidFill>
            <a:srgbClr val="000000"/>
          </a:solidFill>
          <a:ln w="19050">
            <a:solidFill>
              <a:srgbClr val="0000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3200400" y="1399032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4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Canvas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200400" y="1947672"/>
            <a:ext cx="1143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Designer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3246120" y="2523744"/>
            <a:ext cx="1051560" cy="0"/>
          </a:xfrm>
          <a:prstGeom prst="line">
            <a:avLst/>
          </a:prstGeom>
          <a:noFill/>
          <a:ln w="6350">
            <a:solidFill>
              <a:srgbClr val="55555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3200400" y="2615184"/>
            <a:ext cx="1143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"What are we building?"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526280" y="1289304"/>
            <a:ext cx="1325880" cy="3108960"/>
          </a:xfrm>
          <a:prstGeom prst="rect">
            <a:avLst/>
          </a:prstGeom>
          <a:solidFill>
            <a:srgbClr val="000000"/>
          </a:solidFill>
          <a:ln w="19050">
            <a:solidFill>
              <a:srgbClr val="0000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4617720" y="1399032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4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617720" y="1947672"/>
            <a:ext cx="1143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Auditor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4663440" y="2523744"/>
            <a:ext cx="1051560" cy="0"/>
          </a:xfrm>
          <a:prstGeom prst="line">
            <a:avLst/>
          </a:prstGeom>
          <a:noFill/>
          <a:ln w="6350">
            <a:solidFill>
              <a:srgbClr val="55555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Text 21"/>
          <p:cNvSpPr/>
          <p:nvPr/>
        </p:nvSpPr>
        <p:spPr>
          <a:xfrm>
            <a:off x="4617720" y="2615184"/>
            <a:ext cx="1143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"Can we stand behind this?"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5943600" y="1289304"/>
            <a:ext cx="1325880" cy="3108960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23"/>
          <p:cNvSpPr/>
          <p:nvPr/>
        </p:nvSpPr>
        <p:spPr>
          <a:xfrm>
            <a:off x="6035040" y="1399032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5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Hackathon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035040" y="1947672"/>
            <a:ext cx="1143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Builder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6080760" y="2523744"/>
            <a:ext cx="105156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Text 26"/>
          <p:cNvSpPr/>
          <p:nvPr/>
        </p:nvSpPr>
        <p:spPr>
          <a:xfrm>
            <a:off x="6035040" y="2615184"/>
            <a:ext cx="1143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"Can we prove it works?"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7360920" y="1289304"/>
            <a:ext cx="1325880" cy="3108960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Text 28"/>
          <p:cNvSpPr/>
          <p:nvPr/>
        </p:nvSpPr>
        <p:spPr>
          <a:xfrm>
            <a:off x="7452360" y="1399032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7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7452360" y="1947672"/>
            <a:ext cx="1143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Adversary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7498080" y="2523744"/>
            <a:ext cx="105156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452360" y="2615184"/>
            <a:ext cx="1143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"How does this break?"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Six roles —skills behind each hat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914400"/>
            <a:ext cx="1737360" cy="347472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30352" y="969264"/>
            <a:ext cx="16276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2286000" y="914400"/>
            <a:ext cx="2514600" cy="347472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359152" y="969264"/>
            <a:ext cx="2404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titles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892040" y="914400"/>
            <a:ext cx="2148840" cy="347472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65192" y="969264"/>
            <a:ext cx="20391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skill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132320" y="914400"/>
            <a:ext cx="1874520" cy="347472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205472" y="969264"/>
            <a:ext cx="1764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 skill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57200" y="1261872"/>
            <a:ext cx="1737360" cy="621792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0352" y="1316736"/>
            <a:ext cx="160934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Ethnographer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2286000" y="1261872"/>
            <a:ext cx="2514600" cy="621792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359152" y="1316736"/>
            <a:ext cx="238658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UX Researcher · Community Liaison · Policy Analyst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892040" y="1261872"/>
            <a:ext cx="2148840" cy="621792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65192" y="1316736"/>
            <a:ext cx="202082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Qualitative coding and interview synthesis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132320" y="1261872"/>
            <a:ext cx="1874520" cy="621792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205472" y="1316736"/>
            <a:ext cx="174650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Listening without imposing solutions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1883664"/>
            <a:ext cx="1737360" cy="621792"/>
          </a:xfrm>
          <a:prstGeom prst="rect">
            <a:avLst/>
          </a:prstGeom>
          <a:solidFill>
            <a:srgbClr val="F8F8F8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30352" y="1938528"/>
            <a:ext cx="160934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Explorer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2286000" y="1883664"/>
            <a:ext cx="2514600" cy="621792"/>
          </a:xfrm>
          <a:prstGeom prst="rect">
            <a:avLst/>
          </a:prstGeom>
          <a:solidFill>
            <a:srgbClr val="F8F8F8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359152" y="1938528"/>
            <a:ext cx="238658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Engineer · Data Scientist · Product Researcher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4892040" y="1883664"/>
            <a:ext cx="2148840" cy="621792"/>
          </a:xfrm>
          <a:prstGeom prst="rect">
            <a:avLst/>
          </a:prstGeom>
          <a:solidFill>
            <a:srgbClr val="F8F8F8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65192" y="1938528"/>
            <a:ext cx="202082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Capability mapping across AI modalities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7132320" y="1883664"/>
            <a:ext cx="1874520" cy="621792"/>
          </a:xfrm>
          <a:prstGeom prst="rect">
            <a:avLst/>
          </a:prstGeom>
          <a:solidFill>
            <a:srgbClr val="F8F8F8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205472" y="1938528"/>
            <a:ext cx="174650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Intellectual curiosity without attachment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57200" y="2505456"/>
            <a:ext cx="1737360" cy="621792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30352" y="2560320"/>
            <a:ext cx="160934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Designer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2286000" y="2505456"/>
            <a:ext cx="2514600" cy="621792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359152" y="2560320"/>
            <a:ext cx="238658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Product Manager · Solutions Architect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4892040" y="2505456"/>
            <a:ext cx="2148840" cy="621792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965192" y="2560320"/>
            <a:ext cx="202082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Canvas — system design for generative AI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7132320" y="2505456"/>
            <a:ext cx="1874520" cy="621792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205472" y="2560320"/>
            <a:ext cx="174650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discipline under pressure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457200" y="3127248"/>
            <a:ext cx="1737360" cy="621792"/>
          </a:xfrm>
          <a:prstGeom prst="rect">
            <a:avLst/>
          </a:prstGeom>
          <a:solidFill>
            <a:srgbClr val="F8F8F8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30352" y="3182112"/>
            <a:ext cx="160934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2286000" y="3127248"/>
            <a:ext cx="2514600" cy="621792"/>
          </a:xfrm>
          <a:prstGeom prst="rect">
            <a:avLst/>
          </a:prstGeom>
          <a:solidFill>
            <a:srgbClr val="F8F8F8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359152" y="3182112"/>
            <a:ext cx="238658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Governance Lead · Risk Analyst · Compliance Officer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4892040" y="3127248"/>
            <a:ext cx="2148840" cy="621792"/>
          </a:xfrm>
          <a:prstGeom prst="rect">
            <a:avLst/>
          </a:prstGeom>
          <a:solidFill>
            <a:srgbClr val="F8F8F8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965192" y="3182112"/>
            <a:ext cx="202082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NIST AI RMF governance frameworks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7132320" y="3127248"/>
            <a:ext cx="1874520" cy="621792"/>
          </a:xfrm>
          <a:prstGeom prst="rect">
            <a:avLst/>
          </a:prstGeom>
          <a:solidFill>
            <a:srgbClr val="F8F8F8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205472" y="3182112"/>
            <a:ext cx="174650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Saying no when it matters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457200" y="3749040"/>
            <a:ext cx="1737360" cy="621792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30352" y="3803904"/>
            <a:ext cx="160934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Builder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2286000" y="3749040"/>
            <a:ext cx="2514600" cy="621792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359152" y="3803904"/>
            <a:ext cx="238658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Engineer · Full-Stack Developer · Civic Tech Lead</a:t>
            </a:r>
            <a:endParaRPr lang="en-US" sz="1400" dirty="0"/>
          </a:p>
        </p:txBody>
      </p:sp>
      <p:sp>
        <p:nvSpPr>
          <p:cNvPr id="48" name="Shape 46"/>
          <p:cNvSpPr/>
          <p:nvPr/>
        </p:nvSpPr>
        <p:spPr>
          <a:xfrm>
            <a:off x="4892040" y="3749040"/>
            <a:ext cx="2148840" cy="621792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965192" y="3803904"/>
            <a:ext cx="202082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 prototyping with API integration &amp; vibe coding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7132320" y="3749040"/>
            <a:ext cx="1874520" cy="621792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205472" y="3803904"/>
            <a:ext cx="174650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Resilience when prototypes break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457200" y="4370832"/>
            <a:ext cx="1737360" cy="621792"/>
          </a:xfrm>
          <a:prstGeom prst="rect">
            <a:avLst/>
          </a:prstGeom>
          <a:solidFill>
            <a:srgbClr val="F8F8F8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30352" y="4425696"/>
            <a:ext cx="160934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Adversary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2286000" y="4370832"/>
            <a:ext cx="2514600" cy="621792"/>
          </a:xfrm>
          <a:prstGeom prst="rect">
            <a:avLst/>
          </a:prstGeom>
          <a:solidFill>
            <a:srgbClr val="F8F8F8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2359152" y="4425696"/>
            <a:ext cx="238658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Team Analyst · AI Safety Researcher · Penetration Tester</a:t>
            </a:r>
            <a:endParaRPr lang="en-US" sz="1400" dirty="0"/>
          </a:p>
        </p:txBody>
      </p:sp>
      <p:sp>
        <p:nvSpPr>
          <p:cNvPr id="56" name="Shape 54"/>
          <p:cNvSpPr/>
          <p:nvPr/>
        </p:nvSpPr>
        <p:spPr>
          <a:xfrm>
            <a:off x="4892040" y="4370832"/>
            <a:ext cx="2148840" cy="621792"/>
          </a:xfrm>
          <a:prstGeom prst="rect">
            <a:avLst/>
          </a:prstGeom>
          <a:solidFill>
            <a:srgbClr val="F8F8F8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965192" y="4425696"/>
            <a:ext cx="202082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Adversarial testing of AI systems</a:t>
            </a:r>
            <a:endParaRPr lang="en-US" sz="1200" dirty="0"/>
          </a:p>
        </p:txBody>
      </p:sp>
      <p:sp>
        <p:nvSpPr>
          <p:cNvPr id="58" name="Shape 56"/>
          <p:cNvSpPr/>
          <p:nvPr/>
        </p:nvSpPr>
        <p:spPr>
          <a:xfrm>
            <a:off x="7132320" y="4370832"/>
            <a:ext cx="1874520" cy="621792"/>
          </a:xfrm>
          <a:prstGeom prst="rect">
            <a:avLst/>
          </a:prstGeom>
          <a:solidFill>
            <a:srgbClr val="F8F8F8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7205472" y="4425696"/>
            <a:ext cx="174650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Adversarial curiosity — assume nothing is safe</a:t>
            </a:r>
            <a:endParaRPr lang="en-US" sz="1200" dirty="0"/>
          </a:p>
        </p:txBody>
      </p: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2ECECF30-23DB-E2E3-1D33-509890CE7E93}"/>
              </a:ext>
            </a:extLst>
          </p:cNvPr>
          <p:cNvCxnSpPr/>
          <p:nvPr/>
        </p:nvCxnSpPr>
        <p:spPr>
          <a:xfrm>
            <a:off x="96644" y="2854712"/>
            <a:ext cx="26019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FA9CFDE2-69C4-D41C-1DCE-AD49A8E2DACB}"/>
              </a:ext>
            </a:extLst>
          </p:cNvPr>
          <p:cNvCxnSpPr/>
          <p:nvPr/>
        </p:nvCxnSpPr>
        <p:spPr>
          <a:xfrm>
            <a:off x="96644" y="3349083"/>
            <a:ext cx="26019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2226527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Canvas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Agrawal, Gans, and Goldfarb (2018) designed the original canvas for supervised ML. Generative and agentic AI require new cells.</a:t>
            </a:r>
            <a:endParaRPr lang="en-US" sz="1200" dirty="0"/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B3AF880C-12D2-5339-9F15-32861E3BD8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280160"/>
            <a:ext cx="5127935" cy="37521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Prediction Machines, Updated and Expanded - by  Ajay Agrawal &amp; Joshua Gans &amp; Avi Goldfarb (Hardcover), 1 of 1">
            <a:extLst>
              <a:ext uri="{FF2B5EF4-FFF2-40B4-BE49-F238E27FC236}">
                <a16:creationId xmlns:a16="http://schemas.microsoft.com/office/drawing/2014/main" id="{C156F202-63F1-12CF-6590-4ED40D5F1E1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820" r="19252"/>
          <a:stretch>
            <a:fillRect/>
          </a:stretch>
        </p:blipFill>
        <p:spPr bwMode="auto">
          <a:xfrm>
            <a:off x="5917521" y="1428371"/>
            <a:ext cx="2436893" cy="34557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 0">
            <a:extLst>
              <a:ext uri="{FF2B5EF4-FFF2-40B4-BE49-F238E27FC236}">
                <a16:creationId xmlns:a16="http://schemas.microsoft.com/office/drawing/2014/main" id="{E8033E2F-2DCC-0017-66F9-49CA71718956}"/>
              </a:ext>
            </a:extLst>
          </p:cNvPr>
          <p:cNvSpPr/>
          <p:nvPr/>
        </p:nvSpPr>
        <p:spPr>
          <a:xfrm>
            <a:off x="3360233" y="171829"/>
            <a:ext cx="568340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E945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Designed at the “Prediction” Age</a:t>
            </a:r>
            <a:endParaRPr lang="en-US" sz="2000" dirty="0">
              <a:solidFill>
                <a:srgbClr val="E9455F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EF1082-80D4-2388-4796-62262B7D8C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185F38E1-9B67-E9A8-212C-CD85092891A0}"/>
              </a:ext>
            </a:extLst>
          </p:cNvPr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Canvas — for Generative &amp; Agentic AI</a:t>
            </a:r>
            <a:endParaRPr lang="en-US" sz="3000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884F9377-D0CA-901B-8A55-FC8BCAD1F229}"/>
              </a:ext>
            </a:extLst>
          </p:cNvPr>
          <p:cNvSpPr/>
          <p:nvPr/>
        </p:nvSpPr>
        <p:spPr>
          <a:xfrm>
            <a:off x="457200" y="822960"/>
            <a:ext cx="822960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3FC9AFD8-3B89-E2FF-62FC-CBFEB25920CF}"/>
              </a:ext>
            </a:extLst>
          </p:cNvPr>
          <p:cNvSpPr/>
          <p:nvPr/>
        </p:nvSpPr>
        <p:spPr>
          <a:xfrm>
            <a:off x="457200" y="914400"/>
            <a:ext cx="526709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Agrawal, et al (2018) designed the original canvas for </a:t>
            </a:r>
            <a:r>
              <a:rPr lang="en-US" sz="1400" dirty="0">
                <a:solidFill>
                  <a:srgbClr val="E94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 ML</a:t>
            </a:r>
            <a:r>
              <a:rPr lang="en-US" sz="14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51F0937A-4FA6-C06A-C22B-2AC349F0EB2E}"/>
              </a:ext>
            </a:extLst>
          </p:cNvPr>
          <p:cNvSpPr/>
          <p:nvPr/>
        </p:nvSpPr>
        <p:spPr>
          <a:xfrm>
            <a:off x="457200" y="1371600"/>
            <a:ext cx="3840480" cy="3383280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91D7ACED-F56C-A808-B4DC-D0FDB1B7B7F3}"/>
              </a:ext>
            </a:extLst>
          </p:cNvPr>
          <p:cNvSpPr/>
          <p:nvPr/>
        </p:nvSpPr>
        <p:spPr>
          <a:xfrm>
            <a:off x="548640" y="14447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— Prediction Machine</a:t>
            </a:r>
            <a:endParaRPr lang="en-US" sz="1600" dirty="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3C781436-F5D1-8700-BE81-A8B4E882F50D}"/>
              </a:ext>
            </a:extLst>
          </p:cNvPr>
          <p:cNvSpPr/>
          <p:nvPr/>
        </p:nvSpPr>
        <p:spPr>
          <a:xfrm>
            <a:off x="594360" y="1783080"/>
            <a:ext cx="3566160" cy="566928"/>
          </a:xfrm>
          <a:prstGeom prst="rect">
            <a:avLst/>
          </a:prstGeom>
          <a:solidFill>
            <a:srgbClr val="ECECEC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09DCCB16-D5E1-402D-0D25-91B48F7B8251}"/>
              </a:ext>
            </a:extLst>
          </p:cNvPr>
          <p:cNvSpPr/>
          <p:nvPr/>
        </p:nvSpPr>
        <p:spPr>
          <a:xfrm>
            <a:off x="749808" y="1901952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are you predicting?</a:t>
            </a:r>
            <a:endParaRPr lang="en-US" sz="1600" dirty="0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40B86E5A-7534-A1E7-7F33-AAD1EA2CDD32}"/>
              </a:ext>
            </a:extLst>
          </p:cNvPr>
          <p:cNvSpPr/>
          <p:nvPr/>
        </p:nvSpPr>
        <p:spPr>
          <a:xfrm>
            <a:off x="594360" y="2468880"/>
            <a:ext cx="3566160" cy="566928"/>
          </a:xfrm>
          <a:prstGeom prst="rect">
            <a:avLst/>
          </a:prstGeom>
          <a:solidFill>
            <a:srgbClr val="ECECEC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D4238131-3AEE-3904-B550-E76ADC6799DD}"/>
              </a:ext>
            </a:extLst>
          </p:cNvPr>
          <p:cNvSpPr/>
          <p:nvPr/>
        </p:nvSpPr>
        <p:spPr>
          <a:xfrm>
            <a:off x="749808" y="2587752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input data?</a:t>
            </a:r>
            <a:endParaRPr lang="en-US" sz="1600" dirty="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0DA55C93-CF75-DFAF-EBDD-5179A904AEF4}"/>
              </a:ext>
            </a:extLst>
          </p:cNvPr>
          <p:cNvSpPr/>
          <p:nvPr/>
        </p:nvSpPr>
        <p:spPr>
          <a:xfrm>
            <a:off x="594360" y="3154680"/>
            <a:ext cx="3566160" cy="566928"/>
          </a:xfrm>
          <a:prstGeom prst="rect">
            <a:avLst/>
          </a:prstGeom>
          <a:solidFill>
            <a:srgbClr val="ECECEC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DF9F2C01-2CE4-7F3F-7CF9-6FD1DC0AA22B}"/>
              </a:ext>
            </a:extLst>
          </p:cNvPr>
          <p:cNvSpPr/>
          <p:nvPr/>
        </p:nvSpPr>
        <p:spPr>
          <a:xfrm>
            <a:off x="749808" y="3273552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decision does it support?</a:t>
            </a:r>
            <a:endParaRPr lang="en-US" sz="1600" dirty="0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A5B753DE-664A-349A-4317-BE1B1993821D}"/>
              </a:ext>
            </a:extLst>
          </p:cNvPr>
          <p:cNvSpPr/>
          <p:nvPr/>
        </p:nvSpPr>
        <p:spPr>
          <a:xfrm>
            <a:off x="594360" y="3840480"/>
            <a:ext cx="3566160" cy="566928"/>
          </a:xfrm>
          <a:prstGeom prst="rect">
            <a:avLst/>
          </a:prstGeom>
          <a:solidFill>
            <a:srgbClr val="ECECEC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C35F1D5E-E0C8-2A4E-EF04-2B68B9681C6B}"/>
              </a:ext>
            </a:extLst>
          </p:cNvPr>
          <p:cNvSpPr/>
          <p:nvPr/>
        </p:nvSpPr>
        <p:spPr>
          <a:xfrm>
            <a:off x="749808" y="3959352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value of better prediction?</a:t>
            </a:r>
            <a:endParaRPr lang="en-US" sz="1600" dirty="0"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81F0DDC8-CD0F-3013-C370-22294432288F}"/>
              </a:ext>
            </a:extLst>
          </p:cNvPr>
          <p:cNvSpPr/>
          <p:nvPr/>
        </p:nvSpPr>
        <p:spPr>
          <a:xfrm>
            <a:off x="4572000" y="1371600"/>
            <a:ext cx="4297680" cy="3383280"/>
          </a:xfrm>
          <a:prstGeom prst="rect">
            <a:avLst/>
          </a:prstGeom>
          <a:solidFill>
            <a:srgbClr val="F0F0F0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99CF2532-FBB2-DAC3-76C3-2E97D4BDC353}"/>
              </a:ext>
            </a:extLst>
          </p:cNvPr>
          <p:cNvSpPr/>
          <p:nvPr/>
        </p:nvSpPr>
        <p:spPr>
          <a:xfrm>
            <a:off x="4663440" y="144475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UPDATED — </a:t>
            </a: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+ Agentic + Civic Projects</a:t>
            </a:r>
            <a:endParaRPr lang="en-US" sz="1600" dirty="0"/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8B42ED9D-F56D-DA4A-2D13-B6DFC2D65029}"/>
              </a:ext>
            </a:extLst>
          </p:cNvPr>
          <p:cNvSpPr/>
          <p:nvPr/>
        </p:nvSpPr>
        <p:spPr>
          <a:xfrm>
            <a:off x="4709160" y="1783080"/>
            <a:ext cx="4023360" cy="512064"/>
          </a:xfrm>
          <a:prstGeom prst="rect">
            <a:avLst/>
          </a:prstGeom>
          <a:solidFill>
            <a:srgbClr val="E4E4E4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4AED7C66-5473-B4FB-2C98-4C125514F9E5}"/>
              </a:ext>
            </a:extLst>
          </p:cNvPr>
          <p:cNvSpPr/>
          <p:nvPr/>
        </p:nvSpPr>
        <p:spPr>
          <a:xfrm>
            <a:off x="4709160" y="2395728"/>
            <a:ext cx="4023360" cy="512064"/>
          </a:xfrm>
          <a:prstGeom prst="rect">
            <a:avLst/>
          </a:prstGeom>
          <a:solidFill>
            <a:srgbClr val="E4E4E4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5C44CC17-EAA5-6C38-9C6B-D948B13034BC}"/>
              </a:ext>
            </a:extLst>
          </p:cNvPr>
          <p:cNvSpPr/>
          <p:nvPr/>
        </p:nvSpPr>
        <p:spPr>
          <a:xfrm>
            <a:off x="4754880" y="1878297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Capability — which technology, in what sequence?</a:t>
            </a:r>
            <a:endParaRPr lang="en-US" sz="1500" dirty="0"/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5695A6D0-D89B-7342-4ABA-B73DB5402E29}"/>
              </a:ext>
            </a:extLst>
          </p:cNvPr>
          <p:cNvSpPr/>
          <p:nvPr/>
        </p:nvSpPr>
        <p:spPr>
          <a:xfrm>
            <a:off x="4709160" y="3008376"/>
            <a:ext cx="4023360" cy="512064"/>
          </a:xfrm>
          <a:prstGeom prst="rect">
            <a:avLst/>
          </a:prstGeom>
          <a:solidFill>
            <a:srgbClr val="E4E4E4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5DA02E9B-09C8-BE54-1A17-FA81FC25D03F}"/>
              </a:ext>
            </a:extLst>
          </p:cNvPr>
          <p:cNvSpPr/>
          <p:nvPr/>
        </p:nvSpPr>
        <p:spPr>
          <a:xfrm>
            <a:off x="4754880" y="310896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tier — suggest / draft / execute at each step?</a:t>
            </a:r>
            <a:endParaRPr lang="en-US" sz="1500" dirty="0"/>
          </a:p>
        </p:txBody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E3E43F20-F403-20EF-4138-D66D9E048E52}"/>
              </a:ext>
            </a:extLst>
          </p:cNvPr>
          <p:cNvSpPr/>
          <p:nvPr/>
        </p:nvSpPr>
        <p:spPr>
          <a:xfrm>
            <a:off x="4709160" y="3621024"/>
            <a:ext cx="4023360" cy="512064"/>
          </a:xfrm>
          <a:prstGeom prst="rect">
            <a:avLst/>
          </a:prstGeom>
          <a:solidFill>
            <a:srgbClr val="E4E4E4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6ED2F507-1EEA-C668-52B4-7282FE0CCBE6}"/>
              </a:ext>
            </a:extLst>
          </p:cNvPr>
          <p:cNvSpPr/>
          <p:nvPr/>
        </p:nvSpPr>
        <p:spPr>
          <a:xfrm>
            <a:off x="4754880" y="3721608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Override mechanism — how does a human stop it?</a:t>
            </a:r>
            <a:endParaRPr lang="en-US" sz="1500" dirty="0"/>
          </a:p>
        </p:txBody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CD723A56-2C10-C6F6-8431-BB2E16200166}"/>
              </a:ext>
            </a:extLst>
          </p:cNvPr>
          <p:cNvSpPr/>
          <p:nvPr/>
        </p:nvSpPr>
        <p:spPr>
          <a:xfrm>
            <a:off x="4709160" y="4233672"/>
            <a:ext cx="4023360" cy="512064"/>
          </a:xfrm>
          <a:prstGeom prst="rect">
            <a:avLst/>
          </a:prstGeom>
          <a:solidFill>
            <a:srgbClr val="000000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7A8033F3-60DF-25E4-9E5A-6016199C5B56}"/>
              </a:ext>
            </a:extLst>
          </p:cNvPr>
          <p:cNvSpPr/>
          <p:nvPr/>
        </p:nvSpPr>
        <p:spPr>
          <a:xfrm>
            <a:off x="4846320" y="4334256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 13 — Reality Check (new)</a:t>
            </a:r>
            <a:endParaRPr lang="en-US" sz="1000" dirty="0"/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B0D29037-716F-900E-E73C-563E496160CE}"/>
              </a:ext>
            </a:extLst>
          </p:cNvPr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widely adopted published framework has replaced the Prediction Machine canvas for generative AI. The updates above are original to this course.</a:t>
            </a:r>
            <a:endParaRPr lang="en-US" sz="1000" dirty="0"/>
          </a:p>
        </p:txBody>
      </p:sp>
      <p:sp>
        <p:nvSpPr>
          <p:cNvPr id="28" name="Text 2">
            <a:extLst>
              <a:ext uri="{FF2B5EF4-FFF2-40B4-BE49-F238E27FC236}">
                <a16:creationId xmlns:a16="http://schemas.microsoft.com/office/drawing/2014/main" id="{25B210EE-F62C-3A16-0357-95937DC430A7}"/>
              </a:ext>
            </a:extLst>
          </p:cNvPr>
          <p:cNvSpPr/>
          <p:nvPr/>
        </p:nvSpPr>
        <p:spPr>
          <a:xfrm>
            <a:off x="5724292" y="914400"/>
            <a:ext cx="321297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E94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and agentic AI</a:t>
            </a:r>
            <a:r>
              <a:rPr lang="en-US" sz="1400" dirty="0">
                <a:solidFill>
                  <a:srgbClr val="E94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 new cells.</a:t>
            </a:r>
            <a:endParaRPr lang="en-US" sz="1400" dirty="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0CD20377-31A2-B027-CA5D-36A53950D9BC}"/>
              </a:ext>
            </a:extLst>
          </p:cNvPr>
          <p:cNvSpPr/>
          <p:nvPr/>
        </p:nvSpPr>
        <p:spPr>
          <a:xfrm>
            <a:off x="4754880" y="2486969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level — how autonomous is this?</a:t>
            </a:r>
            <a:endParaRPr lang="en-US" sz="1500" dirty="0"/>
          </a:p>
        </p:txBody>
      </p:sp>
    </p:spTree>
    <p:extLst>
      <p:ext uri="{BB962C8B-B14F-4D97-AF65-F5344CB8AC3E}">
        <p14:creationId xmlns:p14="http://schemas.microsoft.com/office/powerpoint/2010/main" val="39822244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0" grpId="0" animBg="1"/>
      <p:bldP spid="12" grpId="0" animBg="1"/>
      <p:bldP spid="14" grpId="0" animBg="1"/>
      <p:bldP spid="16" grpId="0" animBg="1"/>
      <p:bldP spid="20" grpId="0" animBg="1"/>
      <p:bldP spid="22" grpId="0" animBg="1"/>
      <p:bldP spid="24" grpId="0" animBg="1"/>
      <p:bldP spid="26" grpId="0" animBg="1"/>
      <p:bldP spid="28" grpId="0" animBg="1"/>
      <p:bldP spid="18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Canvas — Cells 1–12 (Cell 13 Reality Check follows)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2670048" cy="3977640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2670048" cy="347472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548640" y="1024128"/>
            <a:ext cx="2487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— The Problem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1399032"/>
            <a:ext cx="2487168" cy="0"/>
          </a:xfrm>
          <a:prstGeom prst="line">
            <a:avLst/>
          </a:prstGeom>
          <a:noFill/>
          <a:ln w="3810">
            <a:solidFill>
              <a:srgbClr val="CCCCC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566928" y="1605331"/>
            <a:ext cx="24505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 1: Civic problem </a:t>
            </a: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one sentence, specific friction from your Problem Brief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12064" y="2504564"/>
            <a:ext cx="2487168" cy="0"/>
          </a:xfrm>
          <a:prstGeom prst="line">
            <a:avLst/>
          </a:prstGeom>
          <a:noFill/>
          <a:ln w="381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548640" y="2770631"/>
            <a:ext cx="24505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 2: Primary persona </a:t>
            </a: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the WHO at the specific moment of breakdown (fill individually first)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30352" y="3743910"/>
            <a:ext cx="2487168" cy="0"/>
          </a:xfrm>
          <a:prstGeom prst="line">
            <a:avLst/>
          </a:prstGeom>
          <a:noFill/>
          <a:ln w="3810">
            <a:solidFill>
              <a:srgbClr val="CCCCC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548640" y="3950209"/>
            <a:ext cx="24505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 3: Secondary actor </a:t>
            </a: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the city staff or system that acts on the AI output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236976" y="960120"/>
            <a:ext cx="2670048" cy="3977640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Shape 12"/>
          <p:cNvSpPr/>
          <p:nvPr/>
        </p:nvSpPr>
        <p:spPr>
          <a:xfrm>
            <a:off x="3236976" y="960120"/>
            <a:ext cx="2670048" cy="347472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3328416" y="1024128"/>
            <a:ext cx="2487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— The AI System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3328416" y="1399032"/>
            <a:ext cx="2487168" cy="0"/>
          </a:xfrm>
          <a:prstGeom prst="line">
            <a:avLst/>
          </a:prstGeom>
          <a:noFill/>
          <a:ln w="3810">
            <a:solidFill>
              <a:srgbClr val="CCCCC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3346704" y="1528607"/>
            <a:ext cx="24505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 4: Agent level </a:t>
            </a: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1–5, one sentence justification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3328416" y="2103120"/>
            <a:ext cx="2487168" cy="0"/>
          </a:xfrm>
          <a:prstGeom prst="line">
            <a:avLst/>
          </a:prstGeom>
          <a:noFill/>
          <a:ln w="3810">
            <a:solidFill>
              <a:srgbClr val="CCCCC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3346704" y="2253997"/>
            <a:ext cx="24505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 5: Capability </a:t>
            </a: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which technologies, in what sequence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3328416" y="2807208"/>
            <a:ext cx="2487168" cy="0"/>
          </a:xfrm>
          <a:prstGeom prst="line">
            <a:avLst/>
          </a:prstGeom>
          <a:noFill/>
          <a:ln w="3810">
            <a:solidFill>
              <a:srgbClr val="CCCCC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3346704" y="2939798"/>
            <a:ext cx="24505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 6: Input </a:t>
            </a: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what the primary persona submits, what modality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3328416" y="3511296"/>
            <a:ext cx="2487168" cy="0"/>
          </a:xfrm>
          <a:prstGeom prst="line">
            <a:avLst/>
          </a:prstGeom>
          <a:noFill/>
          <a:ln w="3810">
            <a:solidFill>
              <a:srgbClr val="CCCCC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Text 21"/>
          <p:cNvSpPr/>
          <p:nvPr/>
        </p:nvSpPr>
        <p:spPr>
          <a:xfrm>
            <a:off x="3346704" y="3566158"/>
            <a:ext cx="24505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 7: Output </a:t>
            </a: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what the primary/secondary actor receives, what format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3328416" y="4279393"/>
            <a:ext cx="2487168" cy="0"/>
          </a:xfrm>
          <a:prstGeom prst="line">
            <a:avLst/>
          </a:prstGeom>
          <a:noFill/>
          <a:ln w="3810">
            <a:solidFill>
              <a:srgbClr val="CCCCC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23"/>
          <p:cNvSpPr/>
          <p:nvPr/>
        </p:nvSpPr>
        <p:spPr>
          <a:xfrm>
            <a:off x="3346704" y="4374844"/>
            <a:ext cx="24505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 8: Action tier </a:t>
            </a: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suggest / draft / execute at each step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6016752" y="960120"/>
            <a:ext cx="2670048" cy="3977640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Shape 25"/>
          <p:cNvSpPr/>
          <p:nvPr/>
        </p:nvSpPr>
        <p:spPr>
          <a:xfrm>
            <a:off x="6016752" y="960120"/>
            <a:ext cx="2670048" cy="347472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Text 26"/>
          <p:cNvSpPr/>
          <p:nvPr/>
        </p:nvSpPr>
        <p:spPr>
          <a:xfrm>
            <a:off x="6108192" y="1024128"/>
            <a:ext cx="2487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— Human Oversight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108192" y="1399032"/>
            <a:ext cx="2487168" cy="0"/>
          </a:xfrm>
          <a:prstGeom prst="line">
            <a:avLst/>
          </a:prstGeom>
          <a:noFill/>
          <a:ln w="3810">
            <a:solidFill>
              <a:srgbClr val="CCCCC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Text 28"/>
          <p:cNvSpPr/>
          <p:nvPr/>
        </p:nvSpPr>
        <p:spPr>
          <a:xfrm>
            <a:off x="6126480" y="1454942"/>
            <a:ext cx="24505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 9: Intervention point </a:t>
            </a: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specific step, specific person, specific decision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6108192" y="2186975"/>
            <a:ext cx="2487168" cy="0"/>
          </a:xfrm>
          <a:prstGeom prst="line">
            <a:avLst/>
          </a:prstGeom>
          <a:noFill/>
          <a:ln w="3810">
            <a:solidFill>
              <a:srgbClr val="CCCCC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Text 30"/>
          <p:cNvSpPr/>
          <p:nvPr/>
        </p:nvSpPr>
        <p:spPr>
          <a:xfrm>
            <a:off x="6126480" y="2298563"/>
            <a:ext cx="24505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 10: Override mechanism </a:t>
            </a: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how a human stops or reverses an AI action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6108192" y="3094500"/>
            <a:ext cx="2487168" cy="0"/>
          </a:xfrm>
          <a:prstGeom prst="line">
            <a:avLst/>
          </a:prstGeom>
          <a:noFill/>
          <a:ln w="3810">
            <a:solidFill>
              <a:srgbClr val="CCCCC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Text 32"/>
          <p:cNvSpPr/>
          <p:nvPr/>
        </p:nvSpPr>
        <p:spPr>
          <a:xfrm>
            <a:off x="6108192" y="3180884"/>
            <a:ext cx="24505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 11: Failure mode </a:t>
            </a: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most likely wrong output and downstream consequence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6108192" y="3960320"/>
            <a:ext cx="2487168" cy="0"/>
          </a:xfrm>
          <a:prstGeom prst="line">
            <a:avLst/>
          </a:prstGeom>
          <a:noFill/>
          <a:ln w="3810">
            <a:solidFill>
              <a:srgbClr val="CCCCC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" name="Text 34"/>
          <p:cNvSpPr/>
          <p:nvPr/>
        </p:nvSpPr>
        <p:spPr>
          <a:xfrm>
            <a:off x="6126480" y="4145574"/>
            <a:ext cx="24505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 12: Accountability owner </a:t>
            </a: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named role (not department) responsible for this system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457200" y="4892039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Rule: if a cell could have been written without your Problem Brief and AI Opportunity Memo — it will not score well.</a:t>
            </a:r>
            <a:endParaRPr lang="en-US" sz="1000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B248C49-EB73-A092-6936-6EAF093B23ED}"/>
              </a:ext>
            </a:extLst>
          </p:cNvPr>
          <p:cNvSpPr txBox="1"/>
          <p:nvPr/>
        </p:nvSpPr>
        <p:spPr>
          <a:xfrm>
            <a:off x="408878" y="254247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 animBg="1"/>
      <p:bldP spid="10" grpId="0" animBg="1"/>
      <p:bldP spid="12" grpId="0" animBg="1"/>
      <p:bldP spid="15" grpId="0" animBg="1"/>
      <p:bldP spid="17" grpId="0" animBg="1"/>
      <p:bldP spid="19" grpId="0" animBg="1"/>
      <p:bldP spid="21" grpId="0" animBg="1"/>
      <p:bldP spid="23" grpId="0" animBg="1"/>
      <p:bldP spid="25" grpId="0" animBg="1"/>
      <p:bldP spid="28" grpId="0" animBg="1"/>
      <p:bldP spid="30" grpId="0" animBg="1"/>
      <p:bldP spid="32" grpId="0" animBg="1"/>
      <p:bldP spid="34" grpId="0" animBg="1"/>
      <p:bldP spid="36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Canvas — Section 1: The Problem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777240"/>
            <a:ext cx="1179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CELLS 1–3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56032" y="1097280"/>
            <a:ext cx="2834640" cy="3703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5C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56032" y="1097280"/>
            <a:ext cx="2834640" cy="438912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56032" y="1417320"/>
            <a:ext cx="2834640" cy="118872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15214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 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65760" y="1152144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Civic Problem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65760" y="1627632"/>
            <a:ext cx="26151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broken in the current system?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65760" y="2148840"/>
            <a:ext cx="2615184" cy="0"/>
          </a:xfrm>
          <a:prstGeom prst="line">
            <a:avLst/>
          </a:prstGeom>
          <a:noFill/>
          <a:ln w="6350">
            <a:solidFill>
              <a:srgbClr val="D8D5C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2423160"/>
            <a:ext cx="2615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88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Civic example: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65760" y="2414016"/>
            <a:ext cx="261518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Residents submit dumping reports by phone — each call requires manual data entry. Queue grows. Residents stop calling.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65760" y="3886200"/>
            <a:ext cx="2615184" cy="713232"/>
          </a:xfrm>
          <a:prstGeom prst="rect">
            <a:avLst/>
          </a:prstGeom>
          <a:solidFill>
            <a:srgbClr val="F0EEE9"/>
          </a:solidFill>
          <a:ln w="12700">
            <a:solidFill>
              <a:srgbClr val="D8D5C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8912" y="3931920"/>
            <a:ext cx="2468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88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sentence. Specific friction, not a category.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200400" y="1097280"/>
            <a:ext cx="2834640" cy="3703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5C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00400" y="1097280"/>
            <a:ext cx="2834640" cy="438912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00400" y="1417320"/>
            <a:ext cx="2834640" cy="118872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10128" y="115214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 2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3310128" y="1152144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Persona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3310128" y="1627632"/>
            <a:ext cx="26151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experiences friction most directly?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3310128" y="2148840"/>
            <a:ext cx="2615184" cy="0"/>
          </a:xfrm>
          <a:prstGeom prst="line">
            <a:avLst/>
          </a:prstGeom>
          <a:noFill/>
          <a:ln w="6350">
            <a:solidFill>
              <a:srgbClr val="D8D5C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300984" y="2471166"/>
            <a:ext cx="2615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88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Civic example: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3310128" y="2414016"/>
            <a:ext cx="261518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Maria — Spanish-speaking resident in East SJ who calls 311 but gives up when put on hold.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3310128" y="3886200"/>
            <a:ext cx="2615184" cy="713232"/>
          </a:xfrm>
          <a:prstGeom prst="rect">
            <a:avLst/>
          </a:prstGeom>
          <a:solidFill>
            <a:srgbClr val="F0EEE9"/>
          </a:solidFill>
          <a:ln w="12700">
            <a:solidFill>
              <a:srgbClr val="D8D5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383280" y="3931920"/>
            <a:ext cx="2468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88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'residents.' Named type, specific moment, specific workaround.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144768" y="1097280"/>
            <a:ext cx="2834640" cy="3703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5C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144768" y="1097280"/>
            <a:ext cx="2834640" cy="438912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144768" y="1417320"/>
            <a:ext cx="2834640" cy="118872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254496" y="115214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 3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254496" y="1152144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Secondary Actor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254496" y="1627632"/>
            <a:ext cx="26151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acts on the AI output?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6254496" y="2148840"/>
            <a:ext cx="2615184" cy="0"/>
          </a:xfrm>
          <a:prstGeom prst="line">
            <a:avLst/>
          </a:prstGeom>
          <a:noFill/>
          <a:ln w="6350">
            <a:solidFill>
              <a:srgbClr val="D8D5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245352" y="2441449"/>
            <a:ext cx="2615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88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Civic example: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6254496" y="2414016"/>
            <a:ext cx="261518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311 Operations Supervisor who reviews flagged cases before routing to field crews.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6254496" y="3886200"/>
            <a:ext cx="2615184" cy="713232"/>
          </a:xfrm>
          <a:prstGeom prst="rect">
            <a:avLst/>
          </a:prstGeom>
          <a:solidFill>
            <a:srgbClr val="F0EEE9"/>
          </a:solidFill>
          <a:ln w="12700">
            <a:solidFill>
              <a:srgbClr val="D8D5C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327648" y="3931920"/>
            <a:ext cx="2468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88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staff member or system that receives and must decide.</a:t>
            </a:r>
            <a:endParaRPr 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  <p:bldP spid="13" grpId="0" animBg="1"/>
      <p:bldP spid="14" grpId="0" animBg="1"/>
      <p:bldP spid="16" grpId="0" animBg="1"/>
      <p:bldP spid="20" grpId="0" animBg="1"/>
      <p:bldP spid="21" grpId="0" animBg="1"/>
      <p:bldP spid="22" grpId="0" animBg="1"/>
      <p:bldP spid="24" grpId="0" animBg="1"/>
      <p:bldP spid="25" grpId="0" animBg="1"/>
      <p:bldP spid="27" grpId="0" animBg="1"/>
      <p:bldP spid="31" grpId="0" animBg="1"/>
      <p:bldP spid="32" grpId="0" animBg="1"/>
      <p:bldP spid="33" grpId="0" animBg="1"/>
      <p:bldP spid="35" grpId="0" animBg="1"/>
      <p:bldP spid="36" grpId="0" animBg="1"/>
      <p:bldP spid="38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1926E89-687B-0C48-7C95-77F3BE100D02}"/>
              </a:ext>
            </a:extLst>
          </p:cNvPr>
          <p:cNvSpPr txBox="1"/>
          <p:nvPr/>
        </p:nvSpPr>
        <p:spPr>
          <a:xfrm>
            <a:off x="1208598" y="4779037"/>
            <a:ext cx="868282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https://</a:t>
            </a:r>
            <a:r>
              <a:rPr lang="en-US" sz="1200" dirty="0" err="1"/>
              <a:t>ackodrive.com</a:t>
            </a:r>
            <a:r>
              <a:rPr lang="en-US" sz="1200" dirty="0"/>
              <a:t>/car-guide/autonomous-cars-and-levels-of-autonomous-driving/</a:t>
            </a:r>
          </a:p>
        </p:txBody>
      </p:sp>
      <p:pic>
        <p:nvPicPr>
          <p:cNvPr id="1028" name="Picture 4" descr="/car-guide/autonomous-cars/">
            <a:extLst>
              <a:ext uri="{FF2B5EF4-FFF2-40B4-BE49-F238E27FC236}">
                <a16:creationId xmlns:a16="http://schemas.microsoft.com/office/drawing/2014/main" id="{C840BE09-B1B1-8FE2-90E5-F0F54C64DD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76250"/>
            <a:ext cx="9144000" cy="4191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954556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8">
            <a:extLst>
              <a:ext uri="{FF2B5EF4-FFF2-40B4-BE49-F238E27FC236}">
                <a16:creationId xmlns:a16="http://schemas.microsoft.com/office/drawing/2014/main" id="{A6486A05-3A03-4357-A53C-0A5DB479C567}"/>
              </a:ext>
            </a:extLst>
          </p:cNvPr>
          <p:cNvSpPr/>
          <p:nvPr/>
        </p:nvSpPr>
        <p:spPr>
          <a:xfrm>
            <a:off x="335943" y="3210737"/>
            <a:ext cx="8503920" cy="658368"/>
          </a:xfrm>
          <a:prstGeom prst="rect">
            <a:avLst/>
          </a:prstGeom>
          <a:solidFill>
            <a:srgbClr val="FFFDE7"/>
          </a:solidFill>
          <a:ln w="25400">
            <a:solidFill>
              <a:srgbClr val="FFFF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latin typeface="Georgia" pitchFamily="34" charset="0"/>
                <a:ea typeface="Georgia" pitchFamily="34" charset="-122"/>
                <a:cs typeface="Georgia" pitchFamily="34" charset="-120"/>
              </a:rPr>
              <a:t>Cell 4 — Agent Level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20040" y="1097280"/>
            <a:ext cx="8503920" cy="658368"/>
          </a:xfrm>
          <a:prstGeom prst="rect">
            <a:avLst/>
          </a:prstGeom>
          <a:solidFill>
            <a:srgbClr val="F8F8F8"/>
          </a:solidFill>
          <a:ln w="9525">
            <a:solidFill>
              <a:srgbClr val="CCCCC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320040" y="1097280"/>
            <a:ext cx="457200" cy="658368"/>
          </a:xfrm>
          <a:prstGeom prst="rect">
            <a:avLst/>
          </a:prstGeom>
          <a:solidFill>
            <a:srgbClr val="444444"/>
          </a:solidFill>
          <a:ln w="12700">
            <a:solidFill>
              <a:srgbClr val="44444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457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68680" y="115214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Scripted assistant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68679" y="1426464"/>
            <a:ext cx="37553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asks, AI answers. No memory, no actions. Single-turn.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881339" y="1261872"/>
            <a:ext cx="0" cy="493776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4906541" y="1216152"/>
            <a:ext cx="471361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Scripted conversation — resident asks 'where do I report dumping?'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0040" y="1801368"/>
            <a:ext cx="8503920" cy="658368"/>
          </a:xfrm>
          <a:prstGeom prst="rect">
            <a:avLst/>
          </a:prstGeom>
          <a:solidFill>
            <a:srgbClr val="FFFDE7"/>
          </a:solidFill>
          <a:ln w="25400">
            <a:solidFill>
              <a:srgbClr val="FFFF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Shape 11"/>
          <p:cNvSpPr/>
          <p:nvPr/>
        </p:nvSpPr>
        <p:spPr>
          <a:xfrm>
            <a:off x="320040" y="1801368"/>
            <a:ext cx="457200" cy="65836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320040" y="1801368"/>
            <a:ext cx="457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868680" y="185623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Configured GPT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62412" y="2075688"/>
            <a:ext cx="386686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prompt + knowledge base. Constrained behavior. Still single-session.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881339" y="1965960"/>
            <a:ext cx="0" cy="493776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4966512" y="1920240"/>
            <a:ext cx="465364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GPT grounded in SJ city policy docs (knowledge base) answers 311 questions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452360" y="1856232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CC29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hackathon range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320040" y="2505456"/>
            <a:ext cx="8503920" cy="658368"/>
          </a:xfrm>
          <a:prstGeom prst="rect">
            <a:avLst/>
          </a:prstGeom>
          <a:solidFill>
            <a:srgbClr val="FFFDE7"/>
          </a:solidFill>
          <a:ln w="25400">
            <a:solidFill>
              <a:srgbClr val="FFFF0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0040" y="2505456"/>
            <a:ext cx="457200" cy="65836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0040" y="2505456"/>
            <a:ext cx="457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868680" y="256032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agent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62418" y="2779776"/>
            <a:ext cx="386686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and writes to external systems. Multi-step. Human approves each action.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881339" y="2670048"/>
            <a:ext cx="0" cy="493776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66512" y="2642096"/>
            <a:ext cx="3800893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 reads sheet → classifies complaint → drafts routing row → supervisor approves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452360" y="2560320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CC29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hackathon range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320040" y="3209544"/>
            <a:ext cx="457200" cy="658368"/>
          </a:xfrm>
          <a:prstGeom prst="rect">
            <a:avLst/>
          </a:prstGeom>
          <a:solidFill>
            <a:srgbClr val="444444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0040" y="3209544"/>
            <a:ext cx="457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868680" y="326440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 autonomous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868686" y="3485648"/>
            <a:ext cx="395399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Executes sequences without per-step approval. Escalates on uncertainty.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881339" y="3313696"/>
            <a:ext cx="0" cy="493776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939994" y="3310128"/>
            <a:ext cx="391816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auto-routes low-risk reports, flags hazmat for human review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320040" y="3913632"/>
            <a:ext cx="8503920" cy="658368"/>
          </a:xfrm>
          <a:prstGeom prst="rect">
            <a:avLst/>
          </a:prstGeom>
          <a:solidFill>
            <a:srgbClr val="F8F8F8"/>
          </a:solidFill>
          <a:ln w="9525">
            <a:solidFill>
              <a:srgbClr val="CCCCCC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20040" y="3913632"/>
            <a:ext cx="457200" cy="658368"/>
          </a:xfrm>
          <a:prstGeom prst="rect">
            <a:avLst/>
          </a:prstGeom>
          <a:solidFill>
            <a:srgbClr val="444444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20040" y="3913632"/>
            <a:ext cx="457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000" dirty="0"/>
          </a:p>
        </p:txBody>
      </p:sp>
      <p:sp>
        <p:nvSpPr>
          <p:cNvPr id="38" name="Text 36"/>
          <p:cNvSpPr/>
          <p:nvPr/>
        </p:nvSpPr>
        <p:spPr>
          <a:xfrm>
            <a:off x="868680" y="396849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autonomous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868678" y="4242816"/>
            <a:ext cx="380739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Self-directed goal pursuit. Minimal human checkpoints.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4881339" y="4014216"/>
            <a:ext cx="0" cy="493776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939994" y="3977640"/>
            <a:ext cx="3851259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monitors sensors, dispatches crews, files reports without staff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320040" y="4736592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hackathon prototypes operate at Level 2 or 3, possibly Level 4 with caution. Level 3 requires an API integration (Replit/Colab track). </a:t>
            </a:r>
          </a:p>
          <a:p>
            <a:pPr marL="0" indent="0" algn="ctr">
              <a:buNone/>
            </a:pPr>
            <a:r>
              <a:rPr lang="en-US" sz="10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 your level — it determines your data, your risk, and your governance.</a:t>
            </a:r>
            <a:endParaRPr lang="en-US" sz="1000" dirty="0"/>
          </a:p>
        </p:txBody>
      </p:sp>
      <p:sp>
        <p:nvSpPr>
          <p:cNvPr id="4" name="Text 25">
            <a:extLst>
              <a:ext uri="{FF2B5EF4-FFF2-40B4-BE49-F238E27FC236}">
                <a16:creationId xmlns:a16="http://schemas.microsoft.com/office/drawing/2014/main" id="{1579F962-B1A3-6B53-B5B6-975B1C921870}"/>
              </a:ext>
            </a:extLst>
          </p:cNvPr>
          <p:cNvSpPr/>
          <p:nvPr/>
        </p:nvSpPr>
        <p:spPr>
          <a:xfrm>
            <a:off x="7487245" y="3277007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CC29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hackathon range</a:t>
            </a:r>
            <a:endParaRPr lang="en-US" sz="8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1" grpId="0" animBg="1"/>
      <p:bldP spid="14" grpId="0" animBg="1"/>
      <p:bldP spid="15" grpId="0" animBg="1"/>
      <p:bldP spid="16" grpId="0" animBg="1"/>
      <p:bldP spid="18" grpId="0" animBg="1"/>
      <p:bldP spid="19" grpId="0" animBg="1"/>
      <p:bldP spid="22" grpId="0" animBg="1"/>
      <p:bldP spid="23" grpId="0" animBg="1"/>
      <p:bldP spid="24" grpId="0" animBg="1"/>
      <p:bldP spid="26" grpId="0" animBg="1"/>
      <p:bldP spid="27" grpId="0" animBg="1"/>
      <p:bldP spid="30" grpId="0" animBg="1"/>
      <p:bldP spid="31" grpId="0" animBg="1"/>
      <p:bldP spid="32" grpId="0" animBg="1"/>
      <p:bldP spid="34" grpId="0" animBg="1"/>
      <p:bldP spid="37" grpId="0" animBg="1"/>
      <p:bldP spid="38" grpId="0" animBg="1"/>
      <p:bldP spid="39" grpId="0" animBg="1"/>
      <p:bldP spid="41" grpId="0" animBg="1"/>
      <p:bldP spid="42" grpId="0" animBg="1"/>
      <p:bldP spid="4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Canvas — Section 2: The AI System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777240"/>
            <a:ext cx="1179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CELLS 4–8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56032" y="1097280"/>
            <a:ext cx="640080" cy="658368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56032" y="1097280"/>
            <a:ext cx="640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960120" y="1097280"/>
            <a:ext cx="79095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5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78992" y="115214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Level</a:t>
            </a: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1078992" y="142646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88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autonomous is this?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389120" y="1188720"/>
            <a:ext cx="0" cy="475488"/>
          </a:xfrm>
          <a:prstGeom prst="line">
            <a:avLst/>
          </a:prstGeom>
          <a:noFill/>
          <a:ln w="6350">
            <a:solidFill>
              <a:srgbClr val="D8D5C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26280" y="1207008"/>
            <a:ext cx="4206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888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Level 2 — configured Custom GPT with knowledge base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256032" y="1856232"/>
            <a:ext cx="640080" cy="658368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56032" y="1856232"/>
            <a:ext cx="640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960120" y="1856232"/>
            <a:ext cx="79095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5C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78992" y="191109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Capability Chain</a:t>
            </a: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1078992" y="2185416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88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technologies, in what sequence?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389120" y="1947672"/>
            <a:ext cx="0" cy="475488"/>
          </a:xfrm>
          <a:prstGeom prst="line">
            <a:avLst/>
          </a:prstGeom>
          <a:noFill/>
          <a:ln w="6350">
            <a:solidFill>
              <a:srgbClr val="D8D5C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26280" y="1965960"/>
            <a:ext cx="4206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888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Text generation → Structured extraction → Sheet write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256032" y="2615184"/>
            <a:ext cx="640080" cy="658368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56032" y="2615184"/>
            <a:ext cx="640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960120" y="2615184"/>
            <a:ext cx="79095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5C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78992" y="267004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1078992" y="294436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88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the primary persona submit?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389120" y="2706624"/>
            <a:ext cx="0" cy="475488"/>
          </a:xfrm>
          <a:prstGeom prst="line">
            <a:avLst/>
          </a:prstGeom>
          <a:noFill/>
          <a:ln w="6350">
            <a:solidFill>
              <a:srgbClr val="D8D5C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26280" y="2724912"/>
            <a:ext cx="4206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888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Free-text message in Spanish or English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256032" y="3374136"/>
            <a:ext cx="640080" cy="658368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56032" y="3374136"/>
            <a:ext cx="640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2000" dirty="0"/>
          </a:p>
        </p:txBody>
      </p:sp>
      <p:sp>
        <p:nvSpPr>
          <p:cNvPr id="29" name="Shape 27"/>
          <p:cNvSpPr/>
          <p:nvPr/>
        </p:nvSpPr>
        <p:spPr>
          <a:xfrm>
            <a:off x="960120" y="3374136"/>
            <a:ext cx="79095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5C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78992" y="342900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1078992" y="370332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88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the secondary actor receive?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4389120" y="3465576"/>
            <a:ext cx="0" cy="475488"/>
          </a:xfrm>
          <a:prstGeom prst="line">
            <a:avLst/>
          </a:prstGeom>
          <a:noFill/>
          <a:ln w="6350">
            <a:solidFill>
              <a:srgbClr val="D8D5C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26280" y="3483864"/>
            <a:ext cx="4206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888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Structured row: location, waste type, urgency, dept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256032" y="4133088"/>
            <a:ext cx="640080" cy="658368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56032" y="4133088"/>
            <a:ext cx="640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</a:t>
            </a:r>
            <a:endParaRPr lang="en-US" sz="2000" dirty="0"/>
          </a:p>
        </p:txBody>
      </p:sp>
      <p:sp>
        <p:nvSpPr>
          <p:cNvPr id="36" name="Shape 34"/>
          <p:cNvSpPr/>
          <p:nvPr/>
        </p:nvSpPr>
        <p:spPr>
          <a:xfrm>
            <a:off x="960120" y="4133088"/>
            <a:ext cx="79095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5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078992" y="418795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Tier</a:t>
            </a: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1078992" y="446227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88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 / draft / execute at each step?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4389120" y="4224528"/>
            <a:ext cx="0" cy="475488"/>
          </a:xfrm>
          <a:prstGeom prst="line">
            <a:avLst/>
          </a:prstGeom>
          <a:noFill/>
          <a:ln w="6350">
            <a:solidFill>
              <a:srgbClr val="D8D5C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526280" y="4242816"/>
            <a:ext cx="4206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888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Extract: execute. Route: draft only. Notify: suggest.</a:t>
            </a:r>
            <a:endParaRPr lang="en-US" sz="1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9" grpId="0" animBg="1"/>
      <p:bldP spid="10" grpId="0" animBg="1"/>
      <p:bldP spid="12" grpId="0" animBg="1"/>
      <p:bldP spid="14" grpId="0" animBg="1"/>
      <p:bldP spid="16" grpId="0" animBg="1"/>
      <p:bldP spid="17" grpId="0" animBg="1"/>
      <p:bldP spid="19" grpId="0" animBg="1"/>
      <p:bldP spid="21" grpId="0" animBg="1"/>
      <p:bldP spid="23" grpId="0" animBg="1"/>
      <p:bldP spid="24" grpId="0" animBg="1"/>
      <p:bldP spid="26" grpId="0" animBg="1"/>
      <p:bldP spid="28" grpId="0" animBg="1"/>
      <p:bldP spid="30" grpId="0" animBg="1"/>
      <p:bldP spid="31" grpId="0" animBg="1"/>
      <p:bldP spid="33" grpId="0" animBg="1"/>
      <p:bldP spid="35" grpId="0" animBg="1"/>
      <p:bldP spid="37" grpId="0" animBg="1"/>
      <p:bldP spid="38" grpId="0" animBg="1"/>
      <p:bldP spid="40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365760" y="0"/>
            <a:ext cx="8412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latin typeface="Georgia" pitchFamily="34" charset="0"/>
                <a:ea typeface="Georgia" pitchFamily="34" charset="-122"/>
                <a:cs typeface="Georgia" pitchFamily="34" charset="-120"/>
              </a:rPr>
              <a:t>Cell 8 — Action Tier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20040" y="1179576"/>
            <a:ext cx="8503920" cy="1115568"/>
          </a:xfrm>
          <a:prstGeom prst="rect">
            <a:avLst/>
          </a:prstGeom>
          <a:solidFill>
            <a:srgbClr val="E9455F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448056" y="1179576"/>
            <a:ext cx="1591056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kern="0" spc="3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EXECUTE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1847088" y="1289304"/>
            <a:ext cx="0" cy="914400"/>
          </a:xfrm>
          <a:prstGeom prst="line">
            <a:avLst/>
          </a:prstGeom>
          <a:noFill/>
          <a:ln w="12700">
            <a:solidFill>
              <a:srgbClr val="5555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99716" y="923544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Definition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2002536" y="1453896"/>
            <a:ext cx="2276857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acts automatically. No human step before action occurs.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306824" y="1289304"/>
            <a:ext cx="0" cy="914400"/>
          </a:xfrm>
          <a:prstGeom prst="line">
            <a:avLst/>
          </a:prstGeom>
          <a:noFill/>
          <a:ln w="12700">
            <a:solidFill>
              <a:srgbClr val="55555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0" y="923544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Use when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434840" y="1426464"/>
            <a:ext cx="1965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for low-stakes, reversible, well-tested steps.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263640" y="1289304"/>
            <a:ext cx="0" cy="914400"/>
          </a:xfrm>
          <a:prstGeom prst="line">
            <a:avLst/>
          </a:prstGeom>
          <a:noFill/>
          <a:ln w="12700">
            <a:solidFill>
              <a:srgbClr val="55555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76288" y="896112"/>
            <a:ext cx="20299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501383" y="1307592"/>
            <a:ext cx="20299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Extracting complaint text from a form submission and writing to a draft row in Google Sheet.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20040" y="2450592"/>
            <a:ext cx="8503920" cy="1115568"/>
          </a:xfrm>
          <a:prstGeom prst="rect">
            <a:avLst/>
          </a:prstGeom>
          <a:solidFill>
            <a:srgbClr val="E9455F">
              <a:alpha val="69804"/>
            </a:srgbClr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48056" y="2450592"/>
            <a:ext cx="1591056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kern="0" spc="300" dirty="0">
                <a:latin typeface="Georgia" pitchFamily="34" charset="0"/>
                <a:ea typeface="Georgia" pitchFamily="34" charset="-122"/>
                <a:cs typeface="Georgia" pitchFamily="34" charset="-120"/>
              </a:rPr>
              <a:t>DRAFT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1847088" y="2560320"/>
            <a:ext cx="0" cy="914400"/>
          </a:xfrm>
          <a:prstGeom prst="line">
            <a:avLst/>
          </a:prstGeom>
          <a:noFill/>
          <a:ln w="12700">
            <a:solidFill>
              <a:srgbClr val="55555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039112" y="2656332"/>
            <a:ext cx="230428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AI proposes an action. Named human approves before anything happens.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4306824" y="2560320"/>
            <a:ext cx="0" cy="914400"/>
          </a:xfrm>
          <a:prstGeom prst="line">
            <a:avLst/>
          </a:prstGeom>
          <a:noFill/>
          <a:ln w="12700">
            <a:solidFill>
              <a:srgbClr val="55555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402836" y="2523744"/>
            <a:ext cx="1965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Routing decisions, notifications, any output seen by residents.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263640" y="2560320"/>
            <a:ext cx="0" cy="914400"/>
          </a:xfrm>
          <a:prstGeom prst="line">
            <a:avLst/>
          </a:prstGeom>
          <a:noFill/>
          <a:ln w="12700">
            <a:solidFill>
              <a:srgbClr val="55555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01383" y="2514600"/>
            <a:ext cx="20299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311 supervisor reviews AI-classified urgency and department routing before case moves to crew queue.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320040" y="3511296"/>
            <a:ext cx="8503920" cy="1115568"/>
          </a:xfrm>
          <a:prstGeom prst="rect">
            <a:avLst/>
          </a:prstGeom>
          <a:solidFill>
            <a:srgbClr val="F8F8F8"/>
          </a:solidFill>
          <a:ln w="12700">
            <a:solidFill>
              <a:srgbClr val="F8F8F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48056" y="3511296"/>
            <a:ext cx="1591056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kern="0" spc="300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SUGGEST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1847088" y="3621024"/>
            <a:ext cx="0" cy="91440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965961" y="3785616"/>
            <a:ext cx="237743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surfaces information. Human makes decision independently.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4306824" y="3621024"/>
            <a:ext cx="0" cy="91440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421123" y="3730752"/>
            <a:ext cx="1965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High-stakes decisions, policy calls, novel situations.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6263640" y="3621024"/>
            <a:ext cx="0" cy="91440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501383" y="3639312"/>
            <a:ext cx="20299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flags a report as possible hazmat. Supervisor decides whether to escalate — AI does not trigger escalation.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22860" y="4782312"/>
            <a:ext cx="8823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canvas must label every step. </a:t>
            </a:r>
            <a:r>
              <a:rPr lang="en-US" sz="1400" i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'AI sends the notification' </a:t>
            </a:r>
            <a:r>
              <a:rPr lang="en-US" sz="14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specifying the tier is not an answer — it is a governance gap.</a:t>
            </a:r>
            <a:endParaRPr lang="en-US" sz="1400" dirty="0"/>
          </a:p>
        </p:txBody>
      </p:sp>
      <p:sp>
        <p:nvSpPr>
          <p:cNvPr id="2" name="Text 17">
            <a:extLst>
              <a:ext uri="{FF2B5EF4-FFF2-40B4-BE49-F238E27FC236}">
                <a16:creationId xmlns:a16="http://schemas.microsoft.com/office/drawing/2014/main" id="{FF1B306F-5276-6150-9102-943C25A65DFE}"/>
              </a:ext>
            </a:extLst>
          </p:cNvPr>
          <p:cNvSpPr/>
          <p:nvPr/>
        </p:nvSpPr>
        <p:spPr>
          <a:xfrm>
            <a:off x="4764023" y="256032"/>
            <a:ext cx="329064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C29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Civic problems: </a:t>
            </a:r>
          </a:p>
          <a:p>
            <a:pPr marL="0" indent="0">
              <a:buNone/>
            </a:pPr>
            <a:r>
              <a:rPr lang="en-US" sz="1400" b="1" dirty="0">
                <a:solidFill>
                  <a:srgbClr val="CC29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impact; stronger human checkpoints</a:t>
            </a:r>
            <a:endParaRPr lang="en-US" sz="1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8" grpId="0" animBg="1"/>
      <p:bldP spid="9" grpId="0" animBg="1"/>
      <p:bldP spid="11" grpId="0" animBg="1"/>
      <p:bldP spid="12" grpId="0" animBg="1"/>
      <p:bldP spid="14" grpId="0" animBg="1"/>
      <p:bldP spid="15" grpId="0" animBg="1"/>
      <p:bldP spid="17" grpId="0" animBg="1"/>
      <p:bldP spid="20" grpId="0" animBg="1"/>
      <p:bldP spid="23" grpId="0" animBg="1"/>
      <p:bldP spid="26" grpId="0" animBg="1"/>
      <p:bldP spid="28" grpId="0" animBg="1"/>
      <p:bldP spid="31" grpId="0" animBg="1"/>
      <p:bldP spid="34" grpId="0" animBg="1"/>
      <p:bldP spid="37" grpId="0" animBg="1"/>
      <p:bldP spid="2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Canvas — Section 3: Oversight + Reality Check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56032" y="804672"/>
            <a:ext cx="20574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5C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56032" y="804672"/>
            <a:ext cx="2057400" cy="320040"/>
          </a:xfrm>
          <a:prstGeom prst="rect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56032" y="1005840"/>
            <a:ext cx="2057400" cy="118872"/>
          </a:xfrm>
          <a:prstGeom prst="rect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472" y="822960"/>
            <a:ext cx="1901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· Intervention Point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47472" y="1170432"/>
            <a:ext cx="1901952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 reviews Sheet row before routing notification sends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432304" y="804672"/>
            <a:ext cx="20574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5C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432304" y="804672"/>
            <a:ext cx="2057400" cy="320040"/>
          </a:xfrm>
          <a:prstGeom prst="rect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432304" y="1005840"/>
            <a:ext cx="2057400" cy="118872"/>
          </a:xfrm>
          <a:prstGeom prst="rect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23744" y="822960"/>
            <a:ext cx="1901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· Override Mechanism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523744" y="1170432"/>
            <a:ext cx="1901952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 changes status from PENDING to REJECTED in Sheet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608576" y="804672"/>
            <a:ext cx="20574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5C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608576" y="804672"/>
            <a:ext cx="2057400" cy="320040"/>
          </a:xfrm>
          <a:prstGeom prst="rect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608576" y="1005840"/>
            <a:ext cx="2057400" cy="118872"/>
          </a:xfrm>
          <a:prstGeom prst="rect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00016" y="822960"/>
            <a:ext cx="1901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· Failure Mode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700016" y="1170432"/>
            <a:ext cx="1901952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misclassifies hazmat as LOW urgency — no expedited response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784848" y="804672"/>
            <a:ext cx="20574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5C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784848" y="804672"/>
            <a:ext cx="2057400" cy="320040"/>
          </a:xfrm>
          <a:prstGeom prst="rect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784848" y="1005840"/>
            <a:ext cx="2057400" cy="118872"/>
          </a:xfrm>
          <a:prstGeom prst="rect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76288" y="822960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· Accountability Owner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876288" y="1170432"/>
            <a:ext cx="1901952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311 Operations Manager — named individual, not the department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256032" y="2514600"/>
            <a:ext cx="8641080" cy="347472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84048" y="256032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 13 — Reality Check  (required before canvas is approved)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256032" y="2926080"/>
            <a:ext cx="2057400" cy="1993392"/>
          </a:xfrm>
          <a:prstGeom prst="rect">
            <a:avLst/>
          </a:prstGeom>
          <a:solidFill>
            <a:srgbClr val="FFF0F2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47472" y="2999232"/>
            <a:ext cx="19019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· Prototype sentence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47472" y="3310128"/>
            <a:ext cx="190195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"In our demo, [named persona] will [specific action] and the AI will [specific output] and [named role] will [approve/reject] before anything happens."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2432304" y="2926080"/>
            <a:ext cx="2057400" cy="1993392"/>
          </a:xfrm>
          <a:prstGeom prst="rect">
            <a:avLst/>
          </a:prstGeom>
          <a:solidFill>
            <a:srgbClr val="FFF0F2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523744" y="2999232"/>
            <a:ext cx="19019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· Data check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2523744" y="3310128"/>
            <a:ext cx="190195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every input → mark </a:t>
            </a:r>
            <a:r>
              <a:rPr lang="en-US" sz="1400" i="1" dirty="0">
                <a:solidFill>
                  <a:srgbClr val="FF0000"/>
                </a:solidFill>
              </a:rPr>
              <a:t>available</a:t>
            </a:r>
            <a:r>
              <a:rPr lang="en-US" sz="1400" i="1" dirty="0"/>
              <a:t> / </a:t>
            </a:r>
            <a:r>
              <a:rPr lang="en-US" sz="1400" i="1" dirty="0">
                <a:solidFill>
                  <a:srgbClr val="FF0000"/>
                </a:solidFill>
              </a:rPr>
              <a:t>can directly collect</a:t>
            </a:r>
            <a:r>
              <a:rPr lang="en-US" sz="1400" i="1" dirty="0"/>
              <a:t>  </a:t>
            </a:r>
            <a:r>
              <a:rPr lang="en-US" sz="1400" i="1" dirty="0">
                <a:solidFill>
                  <a:srgbClr val="FF0000"/>
                </a:solidFill>
              </a:rPr>
              <a:t>/ can get from API </a:t>
            </a:r>
            <a:r>
              <a:rPr lang="en-US" sz="1400" i="1" dirty="0"/>
              <a:t>/ </a:t>
            </a:r>
            <a:r>
              <a:rPr lang="en-US" sz="1400" i="1" dirty="0">
                <a:solidFill>
                  <a:srgbClr val="FF0000"/>
                </a:solidFill>
              </a:rPr>
              <a:t>assume available </a:t>
            </a:r>
            <a:r>
              <a:rPr lang="en-US" sz="1400" i="1" dirty="0"/>
              <a:t>/ </a:t>
            </a:r>
            <a:r>
              <a:rPr lang="en-US" sz="1400" i="1" dirty="0">
                <a:solidFill>
                  <a:srgbClr val="FF0000"/>
                </a:solidFill>
              </a:rPr>
              <a:t>not feasible</a:t>
            </a:r>
            <a:r>
              <a:rPr lang="en-US" sz="1400" dirty="0">
                <a:solidFill>
                  <a:srgbClr val="FF0000"/>
                </a:solidFill>
              </a:rPr>
              <a:t> </a:t>
            </a:r>
          </a:p>
        </p:txBody>
      </p:sp>
      <p:sp>
        <p:nvSpPr>
          <p:cNvPr id="32" name="Shape 30"/>
          <p:cNvSpPr/>
          <p:nvPr/>
        </p:nvSpPr>
        <p:spPr>
          <a:xfrm>
            <a:off x="4608576" y="2926080"/>
            <a:ext cx="2057400" cy="1993392"/>
          </a:xfrm>
          <a:prstGeom prst="rect">
            <a:avLst/>
          </a:prstGeom>
          <a:solidFill>
            <a:srgbClr val="FFF0F2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00016" y="2999232"/>
            <a:ext cx="19019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· Capability audit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4700016" y="3310128"/>
            <a:ext cx="190195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Circle the ONE capability that addresses the most important friction. This is the </a:t>
            </a:r>
            <a:r>
              <a:rPr lang="en-US" sz="1400" b="1" i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important part </a:t>
            </a:r>
            <a:r>
              <a:rPr lang="en-US" sz="14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your prototype.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6784848" y="2926080"/>
            <a:ext cx="2057400" cy="1993392"/>
          </a:xfrm>
          <a:prstGeom prst="rect">
            <a:avLst/>
          </a:prstGeom>
          <a:solidFill>
            <a:srgbClr val="FFF0F2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876288" y="2999232"/>
            <a:ext cx="19019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· Gap statement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6876288" y="3310128"/>
            <a:ext cx="190195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"Our prototype proves [capability]. The full vision also requires [2–3 things]. Those are recommendations, not our prototype."</a:t>
            </a:r>
            <a:endParaRPr lang="en-US" sz="1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12" grpId="0" animBg="1"/>
      <p:bldP spid="13" grpId="0" animBg="1"/>
      <p:bldP spid="17" grpId="0" animBg="1"/>
      <p:bldP spid="18" grpId="0" animBg="1"/>
      <p:bldP spid="22" grpId="0" animBg="1"/>
      <p:bldP spid="23" grpId="0" animBg="1"/>
      <p:bldP spid="25" grpId="0" animBg="1"/>
      <p:bldP spid="27" grpId="0" animBg="1"/>
      <p:bldP spid="28" grpId="0" animBg="1"/>
      <p:bldP spid="30" grpId="0" animBg="1"/>
      <p:bldP spid="31" grpId="0" animBg="1"/>
      <p:bldP spid="33" grpId="0" animBg="1"/>
      <p:bldP spid="34" grpId="0" animBg="1"/>
      <p:bldP spid="36" grpId="0" animBg="1"/>
      <p:bldP spid="37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BASICS — design governance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457597" y="1003562"/>
            <a:ext cx="7716741" cy="594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Adapted from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NIST AI RMF (Risk Management Framework): Govern, Map, Measure, Manage | Risk management across lifecycle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OMB M-24-10 (US Federal Policy for AI, Office of Management and Budget): impact + accountability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2331720"/>
            <a:ext cx="3931920" cy="2514600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457200" y="2331719"/>
            <a:ext cx="3931920" cy="484633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566928" y="2471166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BASICS — design governance</a:t>
            </a: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566928" y="3065526"/>
            <a:ext cx="36576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Prospective — before you build</a:t>
            </a:r>
            <a:endParaRPr lang="en-US" sz="1600" dirty="0"/>
          </a:p>
          <a:p>
            <a:pPr marL="342900" indent="-342900" algn="l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— you evaluate your own design</a:t>
            </a:r>
            <a:endParaRPr lang="en-US" sz="1600" dirty="0"/>
          </a:p>
          <a:p>
            <a:pPr marL="342900" indent="-342900" algn="l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Question: did we design this responsibly?</a:t>
            </a:r>
            <a:endParaRPr lang="en-US" sz="1600" dirty="0"/>
          </a:p>
          <a:p>
            <a:pPr marL="342900" indent="-342900" algn="l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in Week 4 — today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663440" y="2331720"/>
            <a:ext cx="4206240" cy="2514600"/>
          </a:xfrm>
          <a:prstGeom prst="rect">
            <a:avLst/>
          </a:prstGeom>
          <a:solidFill>
            <a:srgbClr val="F0F0F0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4663440" y="2331719"/>
            <a:ext cx="4206240" cy="484631"/>
          </a:xfrm>
          <a:prstGeom prst="rect">
            <a:avLst/>
          </a:prstGeom>
          <a:solidFill>
            <a:srgbClr val="444444"/>
          </a:solidFill>
          <a:ln w="12700">
            <a:solidFill>
              <a:srgbClr val="44444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4773168" y="2471166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 — deployment accountability </a:t>
            </a: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4773168" y="3065526"/>
            <a:ext cx="3840480" cy="16504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Retrospective — after you build</a:t>
            </a:r>
            <a:endParaRPr lang="en-US" sz="1600" dirty="0"/>
          </a:p>
          <a:p>
            <a:pPr marL="342900" indent="-342900" algn="l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— someone else attacks your prototype</a:t>
            </a:r>
            <a:endParaRPr lang="en-US" sz="1600" dirty="0"/>
          </a:p>
          <a:p>
            <a:pPr marL="342900" indent="-342900" algn="l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Question: can we stand behind what we built?</a:t>
            </a:r>
            <a:endParaRPr lang="en-US" sz="1600" dirty="0"/>
          </a:p>
          <a:p>
            <a:pPr marL="342900" indent="-342900" algn="l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Revealed in Week 7 — after the hackathon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57200" y="1822299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AI systems don’t just serve users—they </a:t>
            </a:r>
            <a:r>
              <a:rPr lang="en-US" sz="1600" b="1" dirty="0"/>
              <a:t>reshape work, responsibility, and risk inside institutions</a:t>
            </a:r>
            <a:r>
              <a:rPr lang="en-US" sz="1600" dirty="0"/>
              <a:t>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BASICS is self-governance. Red teaming is adversarial testing. 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BASICS — 6 questions, 2 actors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66344" y="877824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for primary persona AND secondary actor. 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66344" y="1252728"/>
            <a:ext cx="8412480" cy="347472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9496" y="1325880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88136" y="132588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282696" y="132588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yourself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025896" y="1325880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311 example answer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66344" y="1600200"/>
            <a:ext cx="530352" cy="585216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14984" y="1600200"/>
            <a:ext cx="1499616" cy="585216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2532887" y="1600200"/>
            <a:ext cx="3529251" cy="585216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952744" y="1600200"/>
            <a:ext cx="2926080" cy="585216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6344" y="1600200"/>
            <a:ext cx="53035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088136" y="1655064"/>
            <a:ext cx="19659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Bias</a:t>
            </a: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2606040" y="1655064"/>
            <a:ext cx="334670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could be underserved or harmed?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025896" y="1655064"/>
            <a:ext cx="2788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Spanish-speaking residents if model accuracy drops on non-English messages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66344" y="2185416"/>
            <a:ext cx="530352" cy="585216"/>
          </a:xfrm>
          <a:prstGeom prst="rect">
            <a:avLst/>
          </a:prstGeom>
          <a:solidFill>
            <a:srgbClr val="F8F8F8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14984" y="2185416"/>
            <a:ext cx="1499616" cy="585216"/>
          </a:xfrm>
          <a:prstGeom prst="rect">
            <a:avLst/>
          </a:prstGeom>
          <a:solidFill>
            <a:srgbClr val="F8F8F8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532887" y="2185416"/>
            <a:ext cx="3529251" cy="585216"/>
          </a:xfrm>
          <a:prstGeom prst="rect">
            <a:avLst/>
          </a:prstGeom>
          <a:solidFill>
            <a:srgbClr val="F8F8F8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952744" y="2185416"/>
            <a:ext cx="2926080" cy="585216"/>
          </a:xfrm>
          <a:prstGeom prst="rect">
            <a:avLst/>
          </a:prstGeom>
          <a:solidFill>
            <a:srgbClr val="F8F8F8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6344" y="2185416"/>
            <a:ext cx="53035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088136" y="2240280"/>
            <a:ext cx="19659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tier</a:t>
            </a: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2606040" y="2240280"/>
            <a:ext cx="334670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automated vs. approved at each step?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025896" y="2240280"/>
            <a:ext cx="2788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Extract: execute · Route: draft · Notify: suggest — maps to Cell 8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66344" y="2770632"/>
            <a:ext cx="530352" cy="585216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014984" y="2770632"/>
            <a:ext cx="1499616" cy="585216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532887" y="2770632"/>
            <a:ext cx="3529251" cy="585216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952744" y="2770632"/>
            <a:ext cx="2926080" cy="585216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66344" y="2770632"/>
            <a:ext cx="53035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1088136" y="2825496"/>
            <a:ext cx="19659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</a:t>
            </a: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2606040" y="2825496"/>
            <a:ext cx="334670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is the named accountable owner?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6025896" y="2825496"/>
            <a:ext cx="2788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the department — a specific named role reachable at 9pm when system fails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66344" y="3355848"/>
            <a:ext cx="530352" cy="585216"/>
          </a:xfrm>
          <a:prstGeom prst="rect">
            <a:avLst/>
          </a:prstGeom>
          <a:solidFill>
            <a:srgbClr val="F8F8F8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014984" y="3355848"/>
            <a:ext cx="1499616" cy="585216"/>
          </a:xfrm>
          <a:prstGeom prst="rect">
            <a:avLst/>
          </a:prstGeom>
          <a:solidFill>
            <a:srgbClr val="F8F8F8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532887" y="3355848"/>
            <a:ext cx="3529251" cy="585216"/>
          </a:xfrm>
          <a:prstGeom prst="rect">
            <a:avLst/>
          </a:prstGeom>
          <a:solidFill>
            <a:srgbClr val="F8F8F8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952744" y="3355848"/>
            <a:ext cx="2926080" cy="585216"/>
          </a:xfrm>
          <a:prstGeom prst="rect">
            <a:avLst/>
          </a:prstGeom>
          <a:solidFill>
            <a:srgbClr val="F8F8F8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66344" y="3355848"/>
            <a:ext cx="53035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1088136" y="3410712"/>
            <a:ext cx="19659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Intervention</a:t>
            </a: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2606040" y="3410712"/>
            <a:ext cx="334670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exactly does a human stay in the loop?</a:t>
            </a:r>
            <a:endParaRPr lang="en-US" sz="1500" dirty="0"/>
          </a:p>
        </p:txBody>
      </p:sp>
      <p:sp>
        <p:nvSpPr>
          <p:cNvPr id="41" name="Text 39"/>
          <p:cNvSpPr/>
          <p:nvPr/>
        </p:nvSpPr>
        <p:spPr>
          <a:xfrm>
            <a:off x="6025896" y="3410712"/>
            <a:ext cx="2788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 reviews before routing notification sends — with override authority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466344" y="3941064"/>
            <a:ext cx="530352" cy="585216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014984" y="3941064"/>
            <a:ext cx="1499616" cy="585216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2532887" y="3941064"/>
            <a:ext cx="3529251" cy="585216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5952744" y="3941064"/>
            <a:ext cx="2926080" cy="585216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66344" y="3941064"/>
            <a:ext cx="53035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</a:t>
            </a:r>
            <a:endParaRPr lang="en-US" sz="1800" dirty="0"/>
          </a:p>
        </p:txBody>
      </p:sp>
      <p:sp>
        <p:nvSpPr>
          <p:cNvPr id="47" name="Text 45"/>
          <p:cNvSpPr/>
          <p:nvPr/>
        </p:nvSpPr>
        <p:spPr>
          <a:xfrm>
            <a:off x="1088136" y="3995928"/>
            <a:ext cx="19659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</a:t>
            </a:r>
            <a:endParaRPr lang="en-US" dirty="0"/>
          </a:p>
        </p:txBody>
      </p:sp>
      <p:sp>
        <p:nvSpPr>
          <p:cNvPr id="48" name="Text 46"/>
          <p:cNvSpPr/>
          <p:nvPr/>
        </p:nvSpPr>
        <p:spPr>
          <a:xfrm>
            <a:off x="2606040" y="3995928"/>
            <a:ext cx="334670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must the vendor guarantee before deployment?</a:t>
            </a:r>
            <a:endParaRPr lang="en-US" sz="1500" dirty="0"/>
          </a:p>
        </p:txBody>
      </p:sp>
      <p:sp>
        <p:nvSpPr>
          <p:cNvPr id="49" name="Text 47"/>
          <p:cNvSpPr/>
          <p:nvPr/>
        </p:nvSpPr>
        <p:spPr>
          <a:xfrm>
            <a:off x="6025896" y="3995928"/>
            <a:ext cx="2788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rights · 24hr incident notification · immediate shutdown clause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466344" y="4526280"/>
            <a:ext cx="530352" cy="585216"/>
          </a:xfrm>
          <a:prstGeom prst="rect">
            <a:avLst/>
          </a:prstGeom>
          <a:solidFill>
            <a:srgbClr val="F8F8F8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1014984" y="4526280"/>
            <a:ext cx="1499616" cy="585216"/>
          </a:xfrm>
          <a:prstGeom prst="rect">
            <a:avLst/>
          </a:prstGeom>
          <a:solidFill>
            <a:srgbClr val="F8F8F8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2532887" y="4526280"/>
            <a:ext cx="3529251" cy="585216"/>
          </a:xfrm>
          <a:prstGeom prst="rect">
            <a:avLst/>
          </a:prstGeom>
          <a:solidFill>
            <a:srgbClr val="F8F8F8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5952744" y="4526280"/>
            <a:ext cx="2926080" cy="585216"/>
          </a:xfrm>
          <a:prstGeom prst="rect">
            <a:avLst/>
          </a:prstGeom>
          <a:solidFill>
            <a:srgbClr val="F8F8F8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66344" y="4526280"/>
            <a:ext cx="53035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</a:t>
            </a:r>
            <a:endParaRPr lang="en-US" sz="1800" dirty="0"/>
          </a:p>
        </p:txBody>
      </p:sp>
      <p:sp>
        <p:nvSpPr>
          <p:cNvPr id="55" name="Text 53"/>
          <p:cNvSpPr/>
          <p:nvPr/>
        </p:nvSpPr>
        <p:spPr>
          <a:xfrm>
            <a:off x="1088136" y="4581144"/>
            <a:ext cx="19659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</a:t>
            </a:r>
            <a:endParaRPr lang="en-US" dirty="0"/>
          </a:p>
        </p:txBody>
      </p:sp>
      <p:sp>
        <p:nvSpPr>
          <p:cNvPr id="56" name="Text 54"/>
          <p:cNvSpPr/>
          <p:nvPr/>
        </p:nvSpPr>
        <p:spPr>
          <a:xfrm>
            <a:off x="2606040" y="4581144"/>
            <a:ext cx="334670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resident rights or services are affected?</a:t>
            </a:r>
            <a:endParaRPr lang="en-US" sz="1500" dirty="0"/>
          </a:p>
        </p:txBody>
      </p:sp>
      <p:sp>
        <p:nvSpPr>
          <p:cNvPr id="57" name="Text 55"/>
          <p:cNvSpPr/>
          <p:nvPr/>
        </p:nvSpPr>
        <p:spPr>
          <a:xfrm>
            <a:off x="6025896" y="4581144"/>
            <a:ext cx="2788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Rights-impacting → stronger controls required by OMB M-24-10</a:t>
            </a:r>
            <a:endParaRPr 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4" grpId="0" animBg="1"/>
      <p:bldP spid="15" grpId="0" animBg="1"/>
      <p:bldP spid="16" grpId="0" animBg="1"/>
      <p:bldP spid="17" grpId="0" animBg="1"/>
      <p:bldP spid="22" grpId="0" animBg="1"/>
      <p:bldP spid="23" grpId="0" animBg="1"/>
      <p:bldP spid="24" grpId="0" animBg="1"/>
      <p:bldP spid="25" grpId="0" animBg="1"/>
      <p:bldP spid="30" grpId="0" animBg="1"/>
      <p:bldP spid="31" grpId="0" animBg="1"/>
      <p:bldP spid="32" grpId="0" animBg="1"/>
      <p:bldP spid="33" grpId="0" animBg="1"/>
      <p:bldP spid="38" grpId="0" animBg="1"/>
      <p:bldP spid="39" grpId="0" animBg="1"/>
      <p:bldP spid="40" grpId="0" animBg="1"/>
      <p:bldP spid="41" grpId="0" animBg="1"/>
      <p:bldP spid="46" grpId="0" animBg="1"/>
      <p:bldP spid="47" grpId="0" animBg="1"/>
      <p:bldP spid="48" grpId="0" animBg="1"/>
      <p:bldP spid="49" grpId="0" animBg="1"/>
      <p:bldP spid="54" grpId="0" animBg="1"/>
      <p:bldP spid="55" grpId="0" animBg="1"/>
      <p:bldP spid="56" grpId="0" animBg="1"/>
      <p:bldP spid="57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0" y="-457200"/>
            <a:ext cx="365760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0" b="1" dirty="0">
                <a:solidFill>
                  <a:srgbClr val="EEEC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</a:t>
            </a:r>
            <a:endParaRPr lang="en-US" sz="220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8288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 — Bias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65760" y="804672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could be underserved or harmed by this system?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65760" y="137160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88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OMB M-24-10 — agencies must consider inequitable outcomes and evaluate whether AI use cases are rights- or safety-impacting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1995678"/>
            <a:ext cx="5760720" cy="36576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" y="2065401"/>
            <a:ext cx="5577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Civic example — 311 Illegal Dumping Intake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65760" y="2571750"/>
            <a:ext cx="5760720" cy="15247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trained on English-language reports may perform worse on Spanish or Vietnamese messages</a:t>
            </a:r>
            <a:endParaRPr lang="en-US" sz="1400" dirty="0"/>
          </a:p>
          <a:p>
            <a:pPr marL="342900" indent="-342900" algn="l"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Neighborhoods with lower smartphone adoption submit fewer photo reports — AI sees less data from those areas</a:t>
            </a:r>
            <a:endParaRPr lang="en-US" sz="1400" dirty="0"/>
          </a:p>
          <a:p>
            <a:pPr marL="342900" indent="-342900" algn="l"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urgency classification correlates with neighborhood, system could systematically deprioritize lower-income areas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56032" y="4224528"/>
            <a:ext cx="5760720" cy="713232"/>
          </a:xfrm>
          <a:prstGeom prst="rect">
            <a:avLst/>
          </a:prstGeom>
          <a:solidFill>
            <a:srgbClr val="F0EEE9"/>
          </a:solidFill>
          <a:ln w="12700">
            <a:solidFill>
              <a:srgbClr val="D8D5C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4048" y="4279392"/>
            <a:ext cx="5532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question: </a:t>
            </a:r>
            <a:r>
              <a:rPr lang="en-US" sz="14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deploying — test performance across languages, neighborhoods, and resident types. Not just on average.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0" y="-457200"/>
            <a:ext cx="365760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0" b="1" dirty="0">
                <a:solidFill>
                  <a:srgbClr val="EEEC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</a:t>
            </a:r>
            <a:endParaRPr lang="en-US" sz="220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8288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— Action Tier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65760" y="804672"/>
            <a:ext cx="81015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can the agent do autonomously vs. what requires human approval?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65760" y="137160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88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OMB M-24-10 — focuses on AI outputs that 'inform, influence, decide, or execute' agency decisions or actions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0041" y="1920240"/>
            <a:ext cx="5760720" cy="50292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29769" y="2071116"/>
            <a:ext cx="5577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Civic example — Three tiers — every step in your capability chain must have one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65760" y="2724912"/>
            <a:ext cx="5760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 ONLY — AI recommends, human decides. Nothing happens without explicit human action.</a:t>
            </a:r>
            <a:endParaRPr lang="en-US" sz="1400" dirty="0"/>
          </a:p>
          <a:p>
            <a:pPr marL="342900" indent="-342900" algn="l"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 AND DRAFT — AI creates the output, human reviews before it goes anywhere.</a:t>
            </a:r>
            <a:endParaRPr lang="en-US" sz="1400" dirty="0"/>
          </a:p>
          <a:p>
            <a:pPr marL="342900" indent="-342900" algn="l"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 — AI acts autonomously. No human approval required for that step.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56032" y="4224528"/>
            <a:ext cx="5760720" cy="713232"/>
          </a:xfrm>
          <a:prstGeom prst="rect">
            <a:avLst/>
          </a:prstGeom>
          <a:solidFill>
            <a:srgbClr val="F0EEE9"/>
          </a:solidFill>
          <a:ln w="12700">
            <a:solidFill>
              <a:srgbClr val="D8D5C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4048" y="4279392"/>
            <a:ext cx="5532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question: </a:t>
            </a:r>
            <a:r>
              <a:rPr lang="en-US" sz="14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each step in your capability chain — which tier applies, and can you justify why execution is appropriate at that step?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0" y="-457200"/>
            <a:ext cx="365760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0" b="1" dirty="0">
                <a:solidFill>
                  <a:srgbClr val="EEEC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</a:t>
            </a:r>
            <a:endParaRPr lang="en-US" sz="220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8288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 — Stakeholder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65760" y="804672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is the named accountable owner for this system?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65760" y="137160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88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NIST AI RMF — Govern function requires assigning accountability across the AI lifecycle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56032" y="1783080"/>
            <a:ext cx="5760720" cy="50292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933956"/>
            <a:ext cx="5577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Civic example — 311 Intake Agent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20041" y="2670048"/>
            <a:ext cx="5760720" cy="1307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Wrong: 'The City of San Jose' · Wrong: 'The Department of Transportation'</a:t>
            </a:r>
            <a:endParaRPr lang="en-US" sz="1400" dirty="0"/>
          </a:p>
          <a:p>
            <a:pPr marL="342900" indent="-342900" algn="l"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Right: 'Maria Chen, 311 Operations Manager — responsible for weekly accuracy review, escalation path, and quarterly reporting'</a:t>
            </a:r>
            <a:endParaRPr lang="en-US" sz="1400" dirty="0"/>
          </a:p>
          <a:p>
            <a:pPr marL="342900" indent="-342900" algn="l"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accountable owner must be able to: turn it off immediately · receive incident notifications within 24 hours · explain it to a resident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56032" y="4224528"/>
            <a:ext cx="5760720" cy="713232"/>
          </a:xfrm>
          <a:prstGeom prst="rect">
            <a:avLst/>
          </a:prstGeom>
          <a:solidFill>
            <a:srgbClr val="F0EEE9"/>
          </a:solidFill>
          <a:ln w="12700">
            <a:solidFill>
              <a:srgbClr val="D8D5C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4048" y="4279392"/>
            <a:ext cx="5532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question: </a:t>
            </a:r>
            <a:r>
              <a:rPr lang="en-US" sz="14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there a specific person — not a department — who can be called at 9pm when the system makes a wrong decision?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0" y="-457200"/>
            <a:ext cx="365760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0" b="1" dirty="0">
                <a:solidFill>
                  <a:srgbClr val="EEEC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</a:t>
            </a:r>
            <a:endParaRPr lang="en-US" sz="220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8288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 — Intervention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65760" y="804672"/>
            <a:ext cx="80741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exactly does a human stay in the loop — and with what authority?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65760" y="137160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88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NIST AI RMF — human oversight design · OMB M-24-10 — strongest review where output affects rights or safety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84048" y="1920240"/>
            <a:ext cx="5760720" cy="50292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93776" y="1938527"/>
            <a:ext cx="5577840" cy="3951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Civic example — Urgency Escalation Layer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65760" y="2647188"/>
            <a:ext cx="576072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Reviewer: Field supervisor · Trigger: Any case classified HIGH urgency automatically</a:t>
            </a:r>
            <a:endParaRPr lang="en-US" sz="1400" dirty="0"/>
          </a:p>
          <a:p>
            <a:pPr marL="342900" indent="-342900" algn="l"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Override power: Supervisor can downgrade urgency and reassign before notification sends</a:t>
            </a:r>
            <a:endParaRPr lang="en-US" sz="1400" dirty="0"/>
          </a:p>
          <a:p>
            <a:pPr marL="342900" indent="-342900" algn="l"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log: Every override recorded with timestamp and reason</a:t>
            </a:r>
            <a:endParaRPr lang="en-US" sz="1400" dirty="0"/>
          </a:p>
          <a:p>
            <a:pPr marL="342900" indent="-342900" algn="l"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Resident appeal: Resident can call 311 to request reclassification within 48 hours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56032" y="4224528"/>
            <a:ext cx="5760720" cy="713232"/>
          </a:xfrm>
          <a:prstGeom prst="rect">
            <a:avLst/>
          </a:prstGeom>
          <a:solidFill>
            <a:srgbClr val="F0EEE9"/>
          </a:solidFill>
          <a:ln w="12700">
            <a:solidFill>
              <a:srgbClr val="D8D5C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4048" y="4279392"/>
            <a:ext cx="5532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question: </a:t>
            </a:r>
            <a:r>
              <a:rPr lang="en-US" sz="14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you fill in all six? Reviewer · Trigger · Override power · Audit log · Escalation path · Resident appeal. If any are undefined — that's the gap.</a:t>
            </a:r>
            <a:endParaRPr lang="en-US" sz="1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0" y="-457200"/>
            <a:ext cx="365760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0" b="1" dirty="0">
                <a:solidFill>
                  <a:srgbClr val="EEEC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</a:t>
            </a:r>
            <a:endParaRPr lang="en-US" sz="220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8288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 — Contract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65760" y="80467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must the vendor or platform contractually guarantee before deployment?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65760" y="137160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88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OMB M-24-10 — procurement as part of AI risk management · Local-government contracting standards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56032" y="1783080"/>
            <a:ext cx="5760720" cy="50292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801367"/>
            <a:ext cx="5577840" cy="3951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Civic example — Deploying on OpenAI or Gemini APIs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20041" y="2670048"/>
            <a:ext cx="5760720" cy="1307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rights — can the city independently inspect what the system did?</a:t>
            </a:r>
            <a:endParaRPr lang="en-US" sz="1400" dirty="0"/>
          </a:p>
          <a:p>
            <a:pPr marL="342900" indent="-342900" algn="l"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lineage — where did training data come from? What is excluded?</a:t>
            </a:r>
            <a:endParaRPr lang="en-US" sz="1400" dirty="0"/>
          </a:p>
          <a:p>
            <a:pPr marL="342900" indent="-342900" algn="l"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notification — how quickly must the vendor notify the city of a failure?</a:t>
            </a:r>
            <a:endParaRPr lang="en-US" sz="1400" dirty="0"/>
          </a:p>
          <a:p>
            <a:pPr marL="342900" indent="-342900" algn="l"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Shutdown guarantee — can the city turn off the system immediately with no penalty?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56032" y="4224528"/>
            <a:ext cx="5760720" cy="713232"/>
          </a:xfrm>
          <a:prstGeom prst="rect">
            <a:avLst/>
          </a:prstGeom>
          <a:solidFill>
            <a:srgbClr val="F0EEE9"/>
          </a:solidFill>
          <a:ln w="12700">
            <a:solidFill>
              <a:srgbClr val="D8D5C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4048" y="4279392"/>
            <a:ext cx="5532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question: </a:t>
            </a:r>
            <a:r>
              <a:rPr lang="en-US" sz="14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were a city council member — what would you require the vendor to sign before approving this system?</a:t>
            </a:r>
            <a:endParaRPr lang="en-US" sz="1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0" y="-457200"/>
            <a:ext cx="365760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0" b="1" dirty="0">
                <a:solidFill>
                  <a:srgbClr val="EEEC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</a:t>
            </a:r>
            <a:endParaRPr lang="en-US" sz="220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8288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 — Scope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65760" y="804672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resident rights or public services are affected by this system?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65760" y="137160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88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OMB M-24-10 — rights and safety screening required for systems that affect access to services, benefits, enforcement, or public records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56032" y="1783080"/>
            <a:ext cx="5760720" cy="50292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1188" y="1929384"/>
            <a:ext cx="5577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Civic example — Two examples at different risk levels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20041" y="2507742"/>
            <a:ext cx="5760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buSzPct val="100000"/>
              <a:buChar char="•"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RIGHTS-IMPACTING: EIH site placement — affects housing access for unhoused residents. Requires bias audit, human override at every decision, public transparency.</a:t>
            </a:r>
            <a:endParaRPr lang="en-US" sz="1500" dirty="0"/>
          </a:p>
          <a:p>
            <a:pPr marL="342900" indent="-342900" algn="l">
              <a:buSzPct val="100000"/>
              <a:buChar char="•"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LOW-IMPACT: Foot traffic analysis — affects investment decisions, not direct resident rights. Standard accuracy review sufficient.</a:t>
            </a:r>
            <a:endParaRPr lang="en-US" sz="1500" dirty="0"/>
          </a:p>
          <a:p>
            <a:pPr marL="342900" indent="-342900" algn="l">
              <a:buSzPct val="100000"/>
              <a:buChar char="•"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in doubt — assume rights-impacting and apply stronger controls.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256032" y="4224528"/>
            <a:ext cx="5760720" cy="713232"/>
          </a:xfrm>
          <a:prstGeom prst="rect">
            <a:avLst/>
          </a:prstGeom>
          <a:solidFill>
            <a:srgbClr val="F0EEE9"/>
          </a:solidFill>
          <a:ln w="12700">
            <a:solidFill>
              <a:srgbClr val="D8D5C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4048" y="4279392"/>
            <a:ext cx="5532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question: </a:t>
            </a:r>
            <a:r>
              <a:rPr lang="en-US" sz="14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this system affect: access to public services? Benefits or eligibility? Enforcement actions? Public records? If yes to any — it is rights-impacting.</a:t>
            </a:r>
            <a:endParaRPr lang="en-US" sz="1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00584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latin typeface="Georgia" pitchFamily="34" charset="0"/>
                <a:ea typeface="Georgia" pitchFamily="34" charset="-122"/>
                <a:cs typeface="Georgia" pitchFamily="34" charset="-120"/>
              </a:rPr>
              <a:t>BASICS asks whether you designed it responsibly.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956816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latin typeface="Georgia" pitchFamily="34" charset="0"/>
                <a:ea typeface="Georgia" pitchFamily="34" charset="-122"/>
                <a:cs typeface="Georgia" pitchFamily="34" charset="-120"/>
              </a:rPr>
              <a:t>Week 6 </a:t>
            </a:r>
            <a:r>
              <a:rPr lang="en-US" sz="2400" b="1">
                <a:latin typeface="Georgia" pitchFamily="34" charset="0"/>
                <a:ea typeface="Georgia" pitchFamily="34" charset="-122"/>
                <a:cs typeface="Georgia" pitchFamily="34" charset="-120"/>
              </a:rPr>
              <a:t>Hackathon —Week of 9/21.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2487168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i="1" dirty="0">
                <a:latin typeface="Georgia" pitchFamily="34" charset="0"/>
                <a:ea typeface="Georgia" pitchFamily="34" charset="-122"/>
                <a:cs typeface="Georgia" pitchFamily="34" charset="-120"/>
              </a:rPr>
              <a:t>You build something. Then something is </a:t>
            </a:r>
            <a:r>
              <a:rPr lang="en-US" sz="2000" i="1">
                <a:latin typeface="Georgia" pitchFamily="34" charset="0"/>
                <a:ea typeface="Georgia" pitchFamily="34" charset="-122"/>
                <a:cs typeface="Georgia" pitchFamily="34" charset="-120"/>
              </a:rPr>
              <a:t>revealed afterwards.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48640" y="3127248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48640" y="3840480"/>
            <a:ext cx="8046720" cy="0"/>
          </a:xfrm>
          <a:prstGeom prst="line">
            <a:avLst/>
          </a:prstGeom>
          <a:noFill/>
          <a:ln w="10160">
            <a:solidFill>
              <a:srgbClr val="333333"/>
            </a:solidFill>
            <a:prstDash val="solid"/>
          </a:ln>
        </p:spPr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290</TotalTime>
  <Words>2509</Words>
  <Application>Microsoft Macintosh PowerPoint</Application>
  <PresentationFormat>On-screen Show (16:9)</PresentationFormat>
  <Paragraphs>320</Paragraphs>
  <Slides>21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Canvas and BASICS — Week 5</dc:title>
  <dc:subject>PptxGenJS Presentation</dc:subject>
  <dc:creator>PptxGenJS</dc:creator>
  <cp:lastModifiedBy>Yu Chen</cp:lastModifiedBy>
  <cp:revision>74</cp:revision>
  <dcterms:created xsi:type="dcterms:W3CDTF">2026-04-15T01:08:01Z</dcterms:created>
  <dcterms:modified xsi:type="dcterms:W3CDTF">2026-09-15T22:32:40Z</dcterms:modified>
</cp:coreProperties>
</file>